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rarely fail at reasoning; they fail at the seams between tools. Data Plumber is one paid API endpoint that fixes those seams: send any payload plus the JSON Schema the next step needs, and get back valid data. Agents pay for it themselves, two cents per call, through Pay.sh.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agent run is a chain of tool calls, and every handoff is a seam. Our demo task: book 8 H100s for 6 hours in US West. Five providers answer five ways: per GPU-hour, per whole machine, per GPU-second, a CSV row, and C's API is down so all we have is scraped text that says 'starting at'. If the expensive planner model does this plumbing itself, its context fills with raw payloads, the unit math slips, unknown fields get guessed, and 'starting at' quietly becomes a real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contract is one endpoint. You send the source payload, JSON, CSV or text, plus a target JSON Schema and optional instructions. You get back data that validates, a valid flag, and warnings. Here C's scraped text becomes a clean row: 24.80 for 8 GPUs is 3.10 per GPU-hour, and the 'starting at' meaning is kept as price_type plus a warning. It is used at three kinds of moments: fan-in, recovery, and handoff. Nothing in it is GPU-specific.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The agent fetches data and pays. The Pay.sh gateway owns all payment: an unpaid call gets 402 with a two-cent challenge, the pay client settles it in USDC on the Solana sandbox, and only then is the request forwarded. The Data Plumber API has no payment code at all; a test enforces that. Inside one call: parse, give every number an id, let the model propose each field as evidence plus a formula over those ids, then code evaluates the formula exactly, rejects anything not grounded in the source, validates against the schema, repairs once if needed, and responds with data, valid and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of the paid demo run. Five rows, one schema. The planner only does simple math on validated rows: price times 8 times 6. A and B tie at 119.52 and A wins on fewer warnings. C is excluded because 'starting at' is a floor, not a quote. For E, the model tried to invent a GPU count and a billing type; code rejected both. Five calls at two cents: ten cents total, paid by the agent through Pay.sh. Now let me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should an agent call this instead of plumbing itself? It keeps the expensive model's context clean, the math exact, and every value grounded or flagged. Failures stay contained at one seam, the cost is a flat two cents per payload, and there is no setup: the agent pays per call through Pay.sh. When not to use it: small, clean payloads that already match the target; plain code mapping is cheaper there. Built and tested today on the Pay.sh sandbox; next is a public HTTPS deployment, a mainnet listing, and batching large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868680"/>
            <a:ext cx="6583680" cy="274320"/>
          </a:xfrm>
          <a:prstGeom prst="rect">
            <a:avLst/>
          </a:prstGeom>
          <a:noFill/>
          <a:ln/>
        </p:spPr>
        <p:txBody>
          <a:bodyPr wrap="square" lIns="0" tIns="0" rIns="0" bIns="0" rtlCol="0" anchor="t"/>
          <a:lstStyle/>
          <a:p>
            <a:pPr indent="0" marL="0">
              <a:buNone/>
            </a:pPr>
            <a:r>
              <a:rPr lang="en-US" sz="1200" b="1" spc="300" kern="0" dirty="0">
                <a:solidFill>
                  <a:srgbClr val="B7ADFF"/>
                </a:solidFill>
                <a:latin typeface="Segoe UI" pitchFamily="34" charset="0"/>
                <a:ea typeface="Segoe UI" pitchFamily="34" charset="-122"/>
                <a:cs typeface="Segoe UI" pitchFamily="34" charset="-120"/>
              </a:rPr>
              <a:t>SOLANA HACKATHON  ·  AGENT INFRASTRUCTURE ON PAY.SH</a:t>
            </a:r>
            <a:endParaRPr lang="en-US" sz="1200" dirty="0"/>
          </a:p>
        </p:txBody>
      </p:sp>
      <p:sp>
        <p:nvSpPr>
          <p:cNvPr id="3" name="Text 1"/>
          <p:cNvSpPr txBox="1"/>
          <p:nvPr/>
        </p:nvSpPr>
        <p:spPr>
          <a:xfrm>
            <a:off x="640080" y="1234440"/>
            <a:ext cx="6583680" cy="1005840"/>
          </a:xfrm>
          <a:prstGeom prst="rect">
            <a:avLst/>
          </a:prstGeom>
          <a:noFill/>
          <a:ln/>
        </p:spPr>
        <p:txBody>
          <a:bodyPr wrap="square" lIns="0" tIns="0" rIns="0" bIns="0" rtlCol="0" anchor="t"/>
          <a:lstStyle/>
          <a:p>
            <a:pPr indent="0" marL="0">
              <a:buNone/>
            </a:pPr>
            <a:r>
              <a:rPr lang="en-US" sz="6000" b="1" dirty="0">
                <a:solidFill>
                  <a:srgbClr val="EEF0F5"/>
                </a:solidFill>
                <a:latin typeface="Segoe UI" pitchFamily="34" charset="0"/>
                <a:ea typeface="Segoe UI" pitchFamily="34" charset="-122"/>
                <a:cs typeface="Segoe UI" pitchFamily="34" charset="-120"/>
              </a:rPr>
              <a:t>Data Plumber</a:t>
            </a:r>
            <a:endParaRPr lang="en-US" sz="6000" dirty="0"/>
          </a:p>
        </p:txBody>
      </p:sp>
      <p:sp>
        <p:nvSpPr>
          <p:cNvPr id="4" name="Text 2"/>
          <p:cNvSpPr txBox="1"/>
          <p:nvPr/>
        </p:nvSpPr>
        <p:spPr>
          <a:xfrm>
            <a:off x="640080" y="2377440"/>
            <a:ext cx="6309360" cy="822960"/>
          </a:xfrm>
          <a:prstGeom prst="rect">
            <a:avLst/>
          </a:prstGeom>
          <a:noFill/>
          <a:ln/>
        </p:spPr>
        <p:txBody>
          <a:bodyPr wrap="square" lIns="0" tIns="0" rIns="0" bIns="0" rtlCol="0" anchor="t"/>
          <a:lstStyle/>
          <a:p>
            <a:pPr indent="0" marL="0">
              <a:buNone/>
            </a:pPr>
            <a:r>
              <a:rPr lang="en-US" sz="2400" dirty="0">
                <a:solidFill>
                  <a:srgbClr val="A3AABB"/>
                </a:solidFill>
                <a:latin typeface="Segoe UI" pitchFamily="34" charset="0"/>
                <a:ea typeface="Segoe UI" pitchFamily="34" charset="-122"/>
                <a:cs typeface="Segoe UI" pitchFamily="34" charset="-120"/>
              </a:rPr>
              <a:t>The reliable step between tools in an agent workflow.</a:t>
            </a:r>
            <a:endParaRPr lang="en-US" sz="2400" dirty="0"/>
          </a:p>
        </p:txBody>
      </p:sp>
      <p:sp>
        <p:nvSpPr>
          <p:cNvPr id="5" name="Text 3"/>
          <p:cNvSpPr txBox="1"/>
          <p:nvPr/>
        </p:nvSpPr>
        <p:spPr>
          <a:xfrm>
            <a:off x="640080" y="3337560"/>
            <a:ext cx="6035040" cy="914400"/>
          </a:xfrm>
          <a:prstGeom prst="rect">
            <a:avLst/>
          </a:prstGeom>
          <a:noFill/>
          <a:ln/>
        </p:spPr>
        <p:txBody>
          <a:bodyPr wrap="square" lIns="0" tIns="0" rIns="0" bIns="0" rtlCol="0" anchor="t"/>
          <a:lstStyle/>
          <a:p>
            <a:pPr indent="0" marL="0">
              <a:lnSpc>
                <a:spcPct val="115000"/>
              </a:lnSpc>
              <a:buNone/>
            </a:pPr>
            <a:r>
              <a:rPr lang="en-US" sz="1600" dirty="0">
                <a:solidFill>
                  <a:srgbClr val="EEF0F5"/>
                </a:solidFill>
                <a:latin typeface="Segoe UI" pitchFamily="34" charset="0"/>
                <a:ea typeface="Segoe UI" pitchFamily="34" charset="-122"/>
                <a:cs typeface="Segoe UI" pitchFamily="34" charset="-120"/>
              </a:rPr>
              <a:t>Send any payload and the JSON Schema you need. Get back valid data, with every value grounded in the source or explicitly flagged.</a:t>
            </a:r>
            <a:endParaRPr lang="en-US" sz="1600" dirty="0"/>
          </a:p>
        </p:txBody>
      </p:sp>
      <p:sp>
        <p:nvSpPr>
          <p:cNvPr id="6" name="Shape 4"/>
          <p:cNvSpPr/>
          <p:nvPr/>
        </p:nvSpPr>
        <p:spPr>
          <a:xfrm>
            <a:off x="640080" y="4526280"/>
            <a:ext cx="1965960" cy="402336"/>
          </a:xfrm>
          <a:prstGeom prst="roundRect">
            <a:avLst>
              <a:gd name="adj" fmla="val 50000"/>
            </a:avLst>
          </a:prstGeom>
          <a:solidFill>
            <a:srgbClr val="151925"/>
          </a:solidFill>
          <a:ln w="12700">
            <a:solidFill>
              <a:srgbClr val="B7ADFF"/>
            </a:solidFill>
            <a:prstDash val="solid"/>
          </a:ln>
        </p:spPr>
      </p:sp>
      <p:sp>
        <p:nvSpPr>
          <p:cNvPr id="7" name="Text 5"/>
          <p:cNvSpPr txBox="1"/>
          <p:nvPr/>
        </p:nvSpPr>
        <p:spPr>
          <a:xfrm>
            <a:off x="640080" y="4526280"/>
            <a:ext cx="1965960" cy="402336"/>
          </a:xfrm>
          <a:prstGeom prst="rect">
            <a:avLst/>
          </a:prstGeom>
          <a:noFill/>
          <a:ln/>
        </p:spPr>
        <p:txBody>
          <a:bodyPr wrap="square" lIns="0" tIns="0" rIns="0" bIns="0" rtlCol="0" anchor="ctr"/>
          <a:lstStyle/>
          <a:p>
            <a:pPr algn="ctr" indent="0" marL="0">
              <a:buNone/>
            </a:pPr>
            <a:r>
              <a:rPr lang="en-US" sz="1300" b="1" dirty="0">
                <a:solidFill>
                  <a:srgbClr val="B7ADFF"/>
                </a:solidFill>
                <a:latin typeface="Consolas" pitchFamily="34" charset="0"/>
                <a:ea typeface="Consolas" pitchFamily="34" charset="-122"/>
                <a:cs typeface="Consolas" pitchFamily="34" charset="-120"/>
              </a:rPr>
              <a:t>POST /v1/adapt</a:t>
            </a:r>
            <a:endParaRPr lang="en-US" sz="1300" dirty="0"/>
          </a:p>
        </p:txBody>
      </p:sp>
      <p:sp>
        <p:nvSpPr>
          <p:cNvPr id="8" name="Shape 6"/>
          <p:cNvSpPr/>
          <p:nvPr/>
        </p:nvSpPr>
        <p:spPr>
          <a:xfrm>
            <a:off x="2770632" y="4526280"/>
            <a:ext cx="2423160" cy="402336"/>
          </a:xfrm>
          <a:prstGeom prst="roundRect">
            <a:avLst>
              <a:gd name="adj" fmla="val 50000"/>
            </a:avLst>
          </a:prstGeom>
          <a:solidFill>
            <a:srgbClr val="151925"/>
          </a:solidFill>
          <a:ln w="12700">
            <a:solidFill>
              <a:srgbClr val="F5B546"/>
            </a:solidFill>
            <a:prstDash val="solid"/>
          </a:ln>
        </p:spPr>
      </p:sp>
      <p:sp>
        <p:nvSpPr>
          <p:cNvPr id="9" name="Text 7"/>
          <p:cNvSpPr txBox="1"/>
          <p:nvPr/>
        </p:nvSpPr>
        <p:spPr>
          <a:xfrm>
            <a:off x="2770632" y="4526280"/>
            <a:ext cx="2423160" cy="402336"/>
          </a:xfrm>
          <a:prstGeom prst="rect">
            <a:avLst/>
          </a:prstGeom>
          <a:noFill/>
          <a:ln/>
        </p:spPr>
        <p:txBody>
          <a:bodyPr wrap="square" lIns="0" tIns="0" rIns="0" bIns="0" rtlCol="0" anchor="ctr"/>
          <a:lstStyle/>
          <a:p>
            <a:pPr algn="ctr" indent="0" marL="0">
              <a:buNone/>
            </a:pPr>
            <a:r>
              <a:rPr lang="en-US" sz="1300" b="1" dirty="0">
                <a:solidFill>
                  <a:srgbClr val="F5B546"/>
                </a:solidFill>
                <a:latin typeface="Segoe UI" pitchFamily="34" charset="0"/>
                <a:ea typeface="Segoe UI" pitchFamily="34" charset="-122"/>
                <a:cs typeface="Segoe UI" pitchFamily="34" charset="-120"/>
              </a:rPr>
              <a:t>$0.02 / call via Pay.sh</a:t>
            </a:r>
            <a:endParaRPr lang="en-US" sz="1300" dirty="0"/>
          </a:p>
        </p:txBody>
      </p:sp>
      <p:sp>
        <p:nvSpPr>
          <p:cNvPr id="10" name="Shape 8"/>
          <p:cNvSpPr/>
          <p:nvPr/>
        </p:nvSpPr>
        <p:spPr>
          <a:xfrm>
            <a:off x="5358384" y="4526280"/>
            <a:ext cx="1828800" cy="402336"/>
          </a:xfrm>
          <a:prstGeom prst="roundRect">
            <a:avLst>
              <a:gd name="adj" fmla="val 50000"/>
            </a:avLst>
          </a:prstGeom>
          <a:solidFill>
            <a:srgbClr val="151925"/>
          </a:solidFill>
          <a:ln w="12700">
            <a:solidFill>
              <a:srgbClr val="34D399"/>
            </a:solidFill>
            <a:prstDash val="solid"/>
          </a:ln>
        </p:spPr>
      </p:sp>
      <p:sp>
        <p:nvSpPr>
          <p:cNvPr id="11" name="Text 9"/>
          <p:cNvSpPr txBox="1"/>
          <p:nvPr/>
        </p:nvSpPr>
        <p:spPr>
          <a:xfrm>
            <a:off x="5358384" y="4526280"/>
            <a:ext cx="1828800" cy="402336"/>
          </a:xfrm>
          <a:prstGeom prst="rect">
            <a:avLst/>
          </a:prstGeom>
          <a:noFill/>
          <a:ln/>
        </p:spPr>
        <p:txBody>
          <a:bodyPr wrap="square" lIns="0" tIns="0" rIns="0" bIns="0" rtlCol="0" anchor="ctr"/>
          <a:lstStyle/>
          <a:p>
            <a:pPr algn="ctr" indent="0" marL="0">
              <a:buNone/>
            </a:pPr>
            <a:r>
              <a:rPr lang="en-US" sz="1300" b="1" dirty="0">
                <a:solidFill>
                  <a:srgbClr val="34D399"/>
                </a:solidFill>
                <a:latin typeface="Segoe UI" pitchFamily="34" charset="0"/>
                <a:ea typeface="Segoe UI" pitchFamily="34" charset="-122"/>
                <a:cs typeface="Segoe UI" pitchFamily="34" charset="-120"/>
              </a:rPr>
              <a:t>JSON · CSV · text</a:t>
            </a:r>
            <a:endParaRPr lang="en-US" sz="1300" dirty="0"/>
          </a:p>
        </p:txBody>
      </p:sp>
      <p:sp>
        <p:nvSpPr>
          <p:cNvPr id="12" name="Text 10"/>
          <p:cNvSpPr txBox="1"/>
          <p:nvPr/>
        </p:nvSpPr>
        <p:spPr>
          <a:xfrm>
            <a:off x="640080" y="6172200"/>
            <a:ext cx="5486400" cy="274320"/>
          </a:xfrm>
          <a:prstGeom prst="rect">
            <a:avLst/>
          </a:prstGeom>
          <a:noFill/>
          <a:ln/>
        </p:spPr>
        <p:txBody>
          <a:bodyPr wrap="square" lIns="0" tIns="0" rIns="0" bIns="0" rtlCol="0" anchor="t"/>
          <a:lstStyle/>
          <a:p>
            <a:pPr indent="0" marL="0">
              <a:buNone/>
            </a:pPr>
            <a:r>
              <a:rPr lang="en-US" sz="1200" dirty="0">
                <a:solidFill>
                  <a:srgbClr val="6B7285"/>
                </a:solidFill>
                <a:latin typeface="Consolas" pitchFamily="34" charset="0"/>
                <a:ea typeface="Consolas" pitchFamily="34" charset="-122"/>
                <a:cs typeface="Consolas" pitchFamily="34" charset="-120"/>
              </a:rPr>
              <a:t>github.com/sudhersankv/data-plumber</a:t>
            </a:r>
            <a:endParaRPr lang="en-US" sz="1200" dirty="0"/>
          </a:p>
        </p:txBody>
      </p:sp>
      <p:sp>
        <p:nvSpPr>
          <p:cNvPr id="13" name="Shape 11"/>
          <p:cNvSpPr/>
          <p:nvPr/>
        </p:nvSpPr>
        <p:spPr>
          <a:xfrm>
            <a:off x="7589520" y="868680"/>
            <a:ext cx="3959352" cy="5120640"/>
          </a:xfrm>
          <a:prstGeom prst="roundRect">
            <a:avLst>
              <a:gd name="adj" fmla="val 2771"/>
            </a:avLst>
          </a:prstGeom>
          <a:solidFill>
            <a:srgbClr val="151925"/>
          </a:solidFill>
          <a:ln w="9525">
            <a:solidFill>
              <a:srgbClr val="2A3042"/>
            </a:solidFill>
            <a:prstDash val="solid"/>
          </a:ln>
        </p:spPr>
      </p:sp>
      <p:sp>
        <p:nvSpPr>
          <p:cNvPr id="14" name="Shape 12"/>
          <p:cNvSpPr/>
          <p:nvPr/>
        </p:nvSpPr>
        <p:spPr>
          <a:xfrm>
            <a:off x="7955280" y="1234440"/>
            <a:ext cx="658368" cy="658368"/>
          </a:xfrm>
          <a:prstGeom prst="roundRect">
            <a:avLst>
              <a:gd name="adj" fmla="val 13889"/>
            </a:avLst>
          </a:prstGeom>
          <a:solidFill>
            <a:srgbClr val="1C2130"/>
          </a:solidFill>
          <a:ln w="9525">
            <a:solidFill>
              <a:srgbClr val="2A3042"/>
            </a:solidFill>
            <a:prstDash val="solid"/>
          </a:ln>
        </p:spPr>
      </p:sp>
      <p:pic>
        <p:nvPicPr>
          <p:cNvPr id="15" name="Image 0" descr="preencoded.png">    </p:cNvPr>
          <p:cNvPicPr>
            <a:picLocks noChangeAspect="1"/>
          </p:cNvPicPr>
          <p:nvPr/>
        </p:nvPicPr>
        <p:blipFill>
          <a:blip r:embed="rId1"/>
          <a:stretch>
            <a:fillRect/>
          </a:stretch>
        </p:blipFill>
        <p:spPr>
          <a:xfrm>
            <a:off x="8113288" y="1392448"/>
            <a:ext cx="342351" cy="342351"/>
          </a:xfrm>
          <a:prstGeom prst="rect">
            <a:avLst/>
          </a:prstGeom>
        </p:spPr>
      </p:pic>
      <p:sp>
        <p:nvSpPr>
          <p:cNvPr id="16" name="Text 13"/>
          <p:cNvSpPr txBox="1"/>
          <p:nvPr/>
        </p:nvSpPr>
        <p:spPr>
          <a:xfrm>
            <a:off x="8869680" y="1271016"/>
            <a:ext cx="2560320" cy="320040"/>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Agent</a:t>
            </a:r>
            <a:endParaRPr lang="en-US" sz="1600" dirty="0"/>
          </a:p>
        </p:txBody>
      </p:sp>
      <p:sp>
        <p:nvSpPr>
          <p:cNvPr id="17" name="Text 14"/>
          <p:cNvSpPr txBox="1"/>
          <p:nvPr/>
        </p:nvSpPr>
        <p:spPr>
          <a:xfrm>
            <a:off x="8869680" y="1600200"/>
            <a:ext cx="256032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fetches data, pays, decides</a:t>
            </a:r>
            <a:endParaRPr lang="en-US" sz="1200" dirty="0"/>
          </a:p>
        </p:txBody>
      </p:sp>
      <p:sp>
        <p:nvSpPr>
          <p:cNvPr id="18" name="Shape 15"/>
          <p:cNvSpPr/>
          <p:nvPr/>
        </p:nvSpPr>
        <p:spPr>
          <a:xfrm>
            <a:off x="8284464" y="1947672"/>
            <a:ext cx="0" cy="420624"/>
          </a:xfrm>
          <a:prstGeom prst="line">
            <a:avLst/>
          </a:prstGeom>
          <a:noFill/>
          <a:ln w="19050">
            <a:solidFill>
              <a:srgbClr val="6B7285"/>
            </a:solidFill>
            <a:prstDash val="solid"/>
            <a:tailEnd type="triangle"/>
          </a:ln>
        </p:spPr>
      </p:sp>
      <p:sp>
        <p:nvSpPr>
          <p:cNvPr id="19" name="Shape 16"/>
          <p:cNvSpPr/>
          <p:nvPr/>
        </p:nvSpPr>
        <p:spPr>
          <a:xfrm>
            <a:off x="7955280" y="2423160"/>
            <a:ext cx="658368" cy="658368"/>
          </a:xfrm>
          <a:prstGeom prst="roundRect">
            <a:avLst>
              <a:gd name="adj" fmla="val 13889"/>
            </a:avLst>
          </a:prstGeom>
          <a:solidFill>
            <a:srgbClr val="1C2130"/>
          </a:solidFill>
          <a:ln w="9525">
            <a:solidFill>
              <a:srgbClr val="2A3042"/>
            </a:solidFill>
            <a:prstDash val="solid"/>
          </a:ln>
        </p:spPr>
      </p:sp>
      <p:pic>
        <p:nvPicPr>
          <p:cNvPr id="20" name="Image 1" descr="preencoded.png">    </p:cNvPr>
          <p:cNvPicPr>
            <a:picLocks noChangeAspect="1"/>
          </p:cNvPicPr>
          <p:nvPr/>
        </p:nvPicPr>
        <p:blipFill>
          <a:blip r:embed="rId2"/>
          <a:stretch>
            <a:fillRect/>
          </a:stretch>
        </p:blipFill>
        <p:spPr>
          <a:xfrm>
            <a:off x="8113288" y="2581168"/>
            <a:ext cx="342351" cy="342351"/>
          </a:xfrm>
          <a:prstGeom prst="rect">
            <a:avLst/>
          </a:prstGeom>
        </p:spPr>
      </p:pic>
      <p:sp>
        <p:nvSpPr>
          <p:cNvPr id="21" name="Text 17"/>
          <p:cNvSpPr txBox="1"/>
          <p:nvPr/>
        </p:nvSpPr>
        <p:spPr>
          <a:xfrm>
            <a:off x="8869680" y="2459736"/>
            <a:ext cx="2560320" cy="320040"/>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Pay.sh gateway</a:t>
            </a:r>
            <a:endParaRPr lang="en-US" sz="1600" dirty="0"/>
          </a:p>
        </p:txBody>
      </p:sp>
      <p:sp>
        <p:nvSpPr>
          <p:cNvPr id="22" name="Text 18"/>
          <p:cNvSpPr txBox="1"/>
          <p:nvPr/>
        </p:nvSpPr>
        <p:spPr>
          <a:xfrm>
            <a:off x="8869680" y="2788920"/>
            <a:ext cx="256032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402 → pay $0.02 → forward</a:t>
            </a:r>
            <a:endParaRPr lang="en-US" sz="1200" dirty="0"/>
          </a:p>
        </p:txBody>
      </p:sp>
      <p:sp>
        <p:nvSpPr>
          <p:cNvPr id="23" name="Shape 19"/>
          <p:cNvSpPr/>
          <p:nvPr/>
        </p:nvSpPr>
        <p:spPr>
          <a:xfrm>
            <a:off x="8284464" y="3136392"/>
            <a:ext cx="0" cy="420624"/>
          </a:xfrm>
          <a:prstGeom prst="line">
            <a:avLst/>
          </a:prstGeom>
          <a:noFill/>
          <a:ln w="19050">
            <a:solidFill>
              <a:srgbClr val="6B7285"/>
            </a:solidFill>
            <a:prstDash val="solid"/>
            <a:tailEnd type="triangle"/>
          </a:ln>
        </p:spPr>
      </p:sp>
      <p:sp>
        <p:nvSpPr>
          <p:cNvPr id="24" name="Shape 20"/>
          <p:cNvSpPr/>
          <p:nvPr/>
        </p:nvSpPr>
        <p:spPr>
          <a:xfrm>
            <a:off x="7955280" y="3611880"/>
            <a:ext cx="658368" cy="658368"/>
          </a:xfrm>
          <a:prstGeom prst="roundRect">
            <a:avLst>
              <a:gd name="adj" fmla="val 13889"/>
            </a:avLst>
          </a:prstGeom>
          <a:solidFill>
            <a:srgbClr val="1C2130"/>
          </a:solidFill>
          <a:ln w="9525">
            <a:solidFill>
              <a:srgbClr val="2A3042"/>
            </a:solidFill>
            <a:prstDash val="solid"/>
          </a:ln>
        </p:spPr>
      </p:sp>
      <p:pic>
        <p:nvPicPr>
          <p:cNvPr id="25" name="Image 2" descr="preencoded.png">    </p:cNvPr>
          <p:cNvPicPr>
            <a:picLocks noChangeAspect="1"/>
          </p:cNvPicPr>
          <p:nvPr/>
        </p:nvPicPr>
        <p:blipFill>
          <a:blip r:embed="rId3"/>
          <a:stretch>
            <a:fillRect/>
          </a:stretch>
        </p:blipFill>
        <p:spPr>
          <a:xfrm>
            <a:off x="8113288" y="3769888"/>
            <a:ext cx="342351" cy="342351"/>
          </a:xfrm>
          <a:prstGeom prst="rect">
            <a:avLst/>
          </a:prstGeom>
        </p:spPr>
      </p:pic>
      <p:sp>
        <p:nvSpPr>
          <p:cNvPr id="26" name="Text 21"/>
          <p:cNvSpPr txBox="1"/>
          <p:nvPr/>
        </p:nvSpPr>
        <p:spPr>
          <a:xfrm>
            <a:off x="8869680" y="3648456"/>
            <a:ext cx="2560320" cy="320040"/>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Data Plumber</a:t>
            </a:r>
            <a:endParaRPr lang="en-US" sz="1600" dirty="0"/>
          </a:p>
        </p:txBody>
      </p:sp>
      <p:sp>
        <p:nvSpPr>
          <p:cNvPr id="27" name="Text 22"/>
          <p:cNvSpPr txBox="1"/>
          <p:nvPr/>
        </p:nvSpPr>
        <p:spPr>
          <a:xfrm>
            <a:off x="8869680" y="3977640"/>
            <a:ext cx="256032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reshape · validate · flag</a:t>
            </a:r>
            <a:endParaRPr lang="en-US" sz="1200" dirty="0"/>
          </a:p>
        </p:txBody>
      </p:sp>
      <p:sp>
        <p:nvSpPr>
          <p:cNvPr id="28" name="Shape 23"/>
          <p:cNvSpPr/>
          <p:nvPr/>
        </p:nvSpPr>
        <p:spPr>
          <a:xfrm>
            <a:off x="8284464" y="4325112"/>
            <a:ext cx="0" cy="420624"/>
          </a:xfrm>
          <a:prstGeom prst="line">
            <a:avLst/>
          </a:prstGeom>
          <a:noFill/>
          <a:ln w="19050">
            <a:solidFill>
              <a:srgbClr val="6B7285"/>
            </a:solidFill>
            <a:prstDash val="solid"/>
            <a:tailEnd type="triangle"/>
          </a:ln>
        </p:spPr>
      </p:sp>
      <p:sp>
        <p:nvSpPr>
          <p:cNvPr id="29" name="Shape 24"/>
          <p:cNvSpPr/>
          <p:nvPr/>
        </p:nvSpPr>
        <p:spPr>
          <a:xfrm>
            <a:off x="7955280" y="4800600"/>
            <a:ext cx="658368" cy="658368"/>
          </a:xfrm>
          <a:prstGeom prst="roundRect">
            <a:avLst>
              <a:gd name="adj" fmla="val 13889"/>
            </a:avLst>
          </a:prstGeom>
          <a:solidFill>
            <a:srgbClr val="1C2130"/>
          </a:solidFill>
          <a:ln w="9525">
            <a:solidFill>
              <a:srgbClr val="2A3042"/>
            </a:solidFill>
            <a:prstDash val="solid"/>
          </a:ln>
        </p:spPr>
      </p:sp>
      <p:pic>
        <p:nvPicPr>
          <p:cNvPr id="30" name="Image 3" descr="preencoded.png">    </p:cNvPr>
          <p:cNvPicPr>
            <a:picLocks noChangeAspect="1"/>
          </p:cNvPicPr>
          <p:nvPr/>
        </p:nvPicPr>
        <p:blipFill>
          <a:blip r:embed="rId4"/>
          <a:stretch>
            <a:fillRect/>
          </a:stretch>
        </p:blipFill>
        <p:spPr>
          <a:xfrm>
            <a:off x="8113288" y="4958608"/>
            <a:ext cx="342351" cy="342351"/>
          </a:xfrm>
          <a:prstGeom prst="rect">
            <a:avLst/>
          </a:prstGeom>
        </p:spPr>
      </p:pic>
      <p:sp>
        <p:nvSpPr>
          <p:cNvPr id="31" name="Text 25"/>
          <p:cNvSpPr txBox="1"/>
          <p:nvPr/>
        </p:nvSpPr>
        <p:spPr>
          <a:xfrm>
            <a:off x="8869680" y="4837176"/>
            <a:ext cx="2560320" cy="320040"/>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Fireworks LLM</a:t>
            </a:r>
            <a:endParaRPr lang="en-US" sz="1600" dirty="0"/>
          </a:p>
        </p:txBody>
      </p:sp>
      <p:sp>
        <p:nvSpPr>
          <p:cNvPr id="32" name="Text 26"/>
          <p:cNvSpPr txBox="1"/>
          <p:nvPr/>
        </p:nvSpPr>
        <p:spPr>
          <a:xfrm>
            <a:off x="8869680" y="5166360"/>
            <a:ext cx="256032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meaning only, never the math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t"/>
          <a:lstStyle/>
          <a:p>
            <a:pPr indent="0" marL="0">
              <a:buNone/>
            </a:pPr>
            <a:r>
              <a:rPr lang="en-US" sz="1100" b="1" spc="300" kern="0" dirty="0">
                <a:solidFill>
                  <a:srgbClr val="B7ADFF"/>
                </a:solidFill>
                <a:latin typeface="Segoe UI" pitchFamily="34" charset="0"/>
                <a:ea typeface="Segoe UI" pitchFamily="34" charset="-122"/>
                <a:cs typeface="Segoe UI" pitchFamily="34" charset="-120"/>
              </a:rPr>
              <a:t>THE PROBLEM</a:t>
            </a:r>
            <a:endParaRPr lang="en-US" sz="1100" dirty="0"/>
          </a:p>
        </p:txBody>
      </p:sp>
      <p:sp>
        <p:nvSpPr>
          <p:cNvPr id="3" name="Text 1"/>
          <p:cNvSpPr txBox="1"/>
          <p:nvPr/>
        </p:nvSpPr>
        <p:spPr>
          <a:xfrm>
            <a:off x="640080" y="777240"/>
            <a:ext cx="10881360" cy="685800"/>
          </a:xfrm>
          <a:prstGeom prst="rect">
            <a:avLst/>
          </a:prstGeom>
          <a:noFill/>
          <a:ln/>
        </p:spPr>
        <p:txBody>
          <a:bodyPr wrap="square" lIns="0" tIns="0" rIns="0" bIns="0" rtlCol="0" anchor="t"/>
          <a:lstStyle/>
          <a:p>
            <a:pPr indent="0" marL="0">
              <a:buNone/>
            </a:pPr>
            <a:r>
              <a:rPr lang="en-US" sz="3200" b="1" dirty="0">
                <a:solidFill>
                  <a:srgbClr val="EEF0F5"/>
                </a:solidFill>
                <a:latin typeface="Segoe UI" pitchFamily="34" charset="0"/>
                <a:ea typeface="Segoe UI" pitchFamily="34" charset="-122"/>
                <a:cs typeface="Segoe UI" pitchFamily="34" charset="-120"/>
              </a:rPr>
              <a:t>Agents break at the seams between tools</a:t>
            </a:r>
            <a:endParaRPr lang="en-US" sz="3200" dirty="0"/>
          </a:p>
        </p:txBody>
      </p:sp>
      <p:sp>
        <p:nvSpPr>
          <p:cNvPr id="4" name="Text 2"/>
          <p:cNvSpPr txBox="1"/>
          <p:nvPr/>
        </p:nvSpPr>
        <p:spPr>
          <a:xfrm>
            <a:off x="10634472" y="6400800"/>
            <a:ext cx="914400" cy="228600"/>
          </a:xfrm>
          <a:prstGeom prst="rect">
            <a:avLst/>
          </a:prstGeom>
          <a:noFill/>
          <a:ln/>
        </p:spPr>
        <p:txBody>
          <a:bodyPr wrap="square" lIns="0" tIns="0" rIns="0" bIns="0" rtlCol="0" anchor="t"/>
          <a:lstStyle/>
          <a:p>
            <a:pPr algn="r" indent="0" marL="0">
              <a:buNone/>
            </a:pPr>
            <a:r>
              <a:rPr lang="en-US" sz="1000" dirty="0">
                <a:solidFill>
                  <a:srgbClr val="6B7285"/>
                </a:solidFill>
                <a:latin typeface="Segoe UI" pitchFamily="34" charset="0"/>
                <a:ea typeface="Segoe UI" pitchFamily="34" charset="-122"/>
                <a:cs typeface="Segoe UI" pitchFamily="34" charset="-120"/>
              </a:rPr>
              <a:t>2 / 6</a:t>
            </a:r>
            <a:endParaRPr lang="en-US" sz="1000" dirty="0"/>
          </a:p>
        </p:txBody>
      </p:sp>
      <p:sp>
        <p:nvSpPr>
          <p:cNvPr id="5" name="Shape 3"/>
          <p:cNvSpPr/>
          <p:nvPr/>
        </p:nvSpPr>
        <p:spPr>
          <a:xfrm>
            <a:off x="640080" y="1691640"/>
            <a:ext cx="1325880" cy="457200"/>
          </a:xfrm>
          <a:prstGeom prst="roundRect">
            <a:avLst>
              <a:gd name="adj" fmla="val 50000"/>
            </a:avLst>
          </a:prstGeom>
          <a:solidFill>
            <a:srgbClr val="151925"/>
          </a:solidFill>
          <a:ln w="9525">
            <a:solidFill>
              <a:srgbClr val="2A3042"/>
            </a:solidFill>
            <a:prstDash val="solid"/>
          </a:ln>
        </p:spPr>
      </p:sp>
      <p:sp>
        <p:nvSpPr>
          <p:cNvPr id="6" name="Text 4"/>
          <p:cNvSpPr txBox="1"/>
          <p:nvPr/>
        </p:nvSpPr>
        <p:spPr>
          <a:xfrm>
            <a:off x="640080"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goal</a:t>
            </a:r>
            <a:endParaRPr lang="en-US" sz="1300" dirty="0"/>
          </a:p>
        </p:txBody>
      </p:sp>
      <p:sp>
        <p:nvSpPr>
          <p:cNvPr id="7" name="Shape 5"/>
          <p:cNvSpPr/>
          <p:nvPr/>
        </p:nvSpPr>
        <p:spPr>
          <a:xfrm>
            <a:off x="2002536" y="1920240"/>
            <a:ext cx="192024" cy="0"/>
          </a:xfrm>
          <a:prstGeom prst="line">
            <a:avLst/>
          </a:prstGeom>
          <a:noFill/>
          <a:ln w="19050">
            <a:solidFill>
              <a:srgbClr val="6B7285"/>
            </a:solidFill>
            <a:prstDash val="solid"/>
            <a:tailEnd type="triangle"/>
          </a:ln>
        </p:spPr>
      </p:sp>
      <p:sp>
        <p:nvSpPr>
          <p:cNvPr id="8" name="Shape 6"/>
          <p:cNvSpPr/>
          <p:nvPr/>
        </p:nvSpPr>
        <p:spPr>
          <a:xfrm>
            <a:off x="2231136" y="1691640"/>
            <a:ext cx="1325880" cy="457200"/>
          </a:xfrm>
          <a:prstGeom prst="roundRect">
            <a:avLst>
              <a:gd name="adj" fmla="val 50000"/>
            </a:avLst>
          </a:prstGeom>
          <a:solidFill>
            <a:srgbClr val="151925"/>
          </a:solidFill>
          <a:ln w="9525">
            <a:solidFill>
              <a:srgbClr val="2A3042"/>
            </a:solidFill>
            <a:prstDash val="solid"/>
          </a:ln>
        </p:spPr>
      </p:sp>
      <p:sp>
        <p:nvSpPr>
          <p:cNvPr id="9" name="Text 7"/>
          <p:cNvSpPr txBox="1"/>
          <p:nvPr/>
        </p:nvSpPr>
        <p:spPr>
          <a:xfrm>
            <a:off x="2231136"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plan</a:t>
            </a:r>
            <a:endParaRPr lang="en-US" sz="1300" dirty="0"/>
          </a:p>
        </p:txBody>
      </p:sp>
      <p:sp>
        <p:nvSpPr>
          <p:cNvPr id="10" name="Shape 8"/>
          <p:cNvSpPr/>
          <p:nvPr/>
        </p:nvSpPr>
        <p:spPr>
          <a:xfrm>
            <a:off x="3593592" y="1920240"/>
            <a:ext cx="192024" cy="0"/>
          </a:xfrm>
          <a:prstGeom prst="line">
            <a:avLst/>
          </a:prstGeom>
          <a:noFill/>
          <a:ln w="19050">
            <a:solidFill>
              <a:srgbClr val="6B7285"/>
            </a:solidFill>
            <a:prstDash val="solid"/>
            <a:tailEnd type="triangle"/>
          </a:ln>
        </p:spPr>
      </p:sp>
      <p:sp>
        <p:nvSpPr>
          <p:cNvPr id="11" name="Shape 9"/>
          <p:cNvSpPr/>
          <p:nvPr/>
        </p:nvSpPr>
        <p:spPr>
          <a:xfrm>
            <a:off x="3822192" y="1691640"/>
            <a:ext cx="1325880" cy="457200"/>
          </a:xfrm>
          <a:prstGeom prst="roundRect">
            <a:avLst>
              <a:gd name="adj" fmla="val 50000"/>
            </a:avLst>
          </a:prstGeom>
          <a:solidFill>
            <a:srgbClr val="151925"/>
          </a:solidFill>
          <a:ln w="9525">
            <a:solidFill>
              <a:srgbClr val="2A3042"/>
            </a:solidFill>
            <a:prstDash val="solid"/>
          </a:ln>
        </p:spPr>
      </p:sp>
      <p:sp>
        <p:nvSpPr>
          <p:cNvPr id="12" name="Text 10"/>
          <p:cNvSpPr txBox="1"/>
          <p:nvPr/>
        </p:nvSpPr>
        <p:spPr>
          <a:xfrm>
            <a:off x="3822192"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fetch × 5</a:t>
            </a:r>
            <a:endParaRPr lang="en-US" sz="1300" dirty="0"/>
          </a:p>
        </p:txBody>
      </p:sp>
      <p:sp>
        <p:nvSpPr>
          <p:cNvPr id="13" name="Shape 11"/>
          <p:cNvSpPr/>
          <p:nvPr/>
        </p:nvSpPr>
        <p:spPr>
          <a:xfrm>
            <a:off x="5184648" y="1920240"/>
            <a:ext cx="192024" cy="0"/>
          </a:xfrm>
          <a:prstGeom prst="line">
            <a:avLst/>
          </a:prstGeom>
          <a:noFill/>
          <a:ln w="19050">
            <a:solidFill>
              <a:srgbClr val="6B7285"/>
            </a:solidFill>
            <a:prstDash val="solid"/>
            <a:tailEnd type="triangle"/>
          </a:ln>
        </p:spPr>
      </p:sp>
      <p:sp>
        <p:nvSpPr>
          <p:cNvPr id="14" name="Shape 12"/>
          <p:cNvSpPr/>
          <p:nvPr/>
        </p:nvSpPr>
        <p:spPr>
          <a:xfrm>
            <a:off x="5413248" y="1691640"/>
            <a:ext cx="1325880" cy="457200"/>
          </a:xfrm>
          <a:prstGeom prst="roundRect">
            <a:avLst>
              <a:gd name="adj" fmla="val 50000"/>
            </a:avLst>
          </a:prstGeom>
          <a:solidFill>
            <a:srgbClr val="2A1720"/>
          </a:solidFill>
          <a:ln w="15875">
            <a:solidFill>
              <a:srgbClr val="FB7185"/>
            </a:solidFill>
            <a:prstDash val="solid"/>
          </a:ln>
        </p:spPr>
      </p:sp>
      <p:sp>
        <p:nvSpPr>
          <p:cNvPr id="15" name="Text 13"/>
          <p:cNvSpPr txBox="1"/>
          <p:nvPr/>
        </p:nvSpPr>
        <p:spPr>
          <a:xfrm>
            <a:off x="5413248" y="1691640"/>
            <a:ext cx="1325880" cy="457200"/>
          </a:xfrm>
          <a:prstGeom prst="rect">
            <a:avLst/>
          </a:prstGeom>
          <a:noFill/>
          <a:ln/>
        </p:spPr>
        <p:txBody>
          <a:bodyPr wrap="square" lIns="0" tIns="0" rIns="0" bIns="0" rtlCol="0" anchor="ctr"/>
          <a:lstStyle/>
          <a:p>
            <a:pPr algn="ctr" indent="0" marL="0">
              <a:buNone/>
            </a:pPr>
            <a:r>
              <a:rPr lang="en-US" sz="1300" b="1" dirty="0">
                <a:solidFill>
                  <a:srgbClr val="FB7185"/>
                </a:solidFill>
                <a:latin typeface="Segoe UI" pitchFamily="34" charset="0"/>
                <a:ea typeface="Segoe UI" pitchFamily="34" charset="-122"/>
                <a:cs typeface="Segoe UI" pitchFamily="34" charset="-120"/>
              </a:rPr>
              <a:t>5 shapes → 1</a:t>
            </a:r>
            <a:endParaRPr lang="en-US" sz="1300" dirty="0"/>
          </a:p>
        </p:txBody>
      </p:sp>
      <p:sp>
        <p:nvSpPr>
          <p:cNvPr id="16" name="Shape 14"/>
          <p:cNvSpPr/>
          <p:nvPr/>
        </p:nvSpPr>
        <p:spPr>
          <a:xfrm>
            <a:off x="6775704" y="1920240"/>
            <a:ext cx="192024" cy="0"/>
          </a:xfrm>
          <a:prstGeom prst="line">
            <a:avLst/>
          </a:prstGeom>
          <a:noFill/>
          <a:ln w="19050">
            <a:solidFill>
              <a:srgbClr val="6B7285"/>
            </a:solidFill>
            <a:prstDash val="solid"/>
            <a:tailEnd type="triangle"/>
          </a:ln>
        </p:spPr>
      </p:sp>
      <p:sp>
        <p:nvSpPr>
          <p:cNvPr id="17" name="Shape 15"/>
          <p:cNvSpPr/>
          <p:nvPr/>
        </p:nvSpPr>
        <p:spPr>
          <a:xfrm>
            <a:off x="7004304" y="1691640"/>
            <a:ext cx="1325880" cy="457200"/>
          </a:xfrm>
          <a:prstGeom prst="roundRect">
            <a:avLst>
              <a:gd name="adj" fmla="val 50000"/>
            </a:avLst>
          </a:prstGeom>
          <a:solidFill>
            <a:srgbClr val="151925"/>
          </a:solidFill>
          <a:ln w="9525">
            <a:solidFill>
              <a:srgbClr val="2A3042"/>
            </a:solidFill>
            <a:prstDash val="solid"/>
          </a:ln>
        </p:spPr>
      </p:sp>
      <p:sp>
        <p:nvSpPr>
          <p:cNvPr id="18" name="Text 16"/>
          <p:cNvSpPr txBox="1"/>
          <p:nvPr/>
        </p:nvSpPr>
        <p:spPr>
          <a:xfrm>
            <a:off x="7004304"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compare</a:t>
            </a:r>
            <a:endParaRPr lang="en-US" sz="1300" dirty="0"/>
          </a:p>
        </p:txBody>
      </p:sp>
      <p:sp>
        <p:nvSpPr>
          <p:cNvPr id="19" name="Shape 17"/>
          <p:cNvSpPr/>
          <p:nvPr/>
        </p:nvSpPr>
        <p:spPr>
          <a:xfrm>
            <a:off x="8366760" y="1920240"/>
            <a:ext cx="192024" cy="0"/>
          </a:xfrm>
          <a:prstGeom prst="line">
            <a:avLst/>
          </a:prstGeom>
          <a:noFill/>
          <a:ln w="19050">
            <a:solidFill>
              <a:srgbClr val="6B7285"/>
            </a:solidFill>
            <a:prstDash val="solid"/>
            <a:tailEnd type="triangle"/>
          </a:ln>
        </p:spPr>
      </p:sp>
      <p:sp>
        <p:nvSpPr>
          <p:cNvPr id="20" name="Shape 18"/>
          <p:cNvSpPr/>
          <p:nvPr/>
        </p:nvSpPr>
        <p:spPr>
          <a:xfrm>
            <a:off x="8595360" y="1691640"/>
            <a:ext cx="1325880" cy="457200"/>
          </a:xfrm>
          <a:prstGeom prst="roundRect">
            <a:avLst>
              <a:gd name="adj" fmla="val 50000"/>
            </a:avLst>
          </a:prstGeom>
          <a:solidFill>
            <a:srgbClr val="151925"/>
          </a:solidFill>
          <a:ln w="9525">
            <a:solidFill>
              <a:srgbClr val="2A3042"/>
            </a:solidFill>
            <a:prstDash val="solid"/>
          </a:ln>
        </p:spPr>
      </p:sp>
      <p:sp>
        <p:nvSpPr>
          <p:cNvPr id="21" name="Text 19"/>
          <p:cNvSpPr txBox="1"/>
          <p:nvPr/>
        </p:nvSpPr>
        <p:spPr>
          <a:xfrm>
            <a:off x="8595360"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decide</a:t>
            </a:r>
            <a:endParaRPr lang="en-US" sz="1300" dirty="0"/>
          </a:p>
        </p:txBody>
      </p:sp>
      <p:sp>
        <p:nvSpPr>
          <p:cNvPr id="22" name="Shape 20"/>
          <p:cNvSpPr/>
          <p:nvPr/>
        </p:nvSpPr>
        <p:spPr>
          <a:xfrm>
            <a:off x="9957816" y="1920240"/>
            <a:ext cx="192024" cy="0"/>
          </a:xfrm>
          <a:prstGeom prst="line">
            <a:avLst/>
          </a:prstGeom>
          <a:noFill/>
          <a:ln w="19050">
            <a:solidFill>
              <a:srgbClr val="6B7285"/>
            </a:solidFill>
            <a:prstDash val="solid"/>
            <a:tailEnd type="triangle"/>
          </a:ln>
        </p:spPr>
      </p:sp>
      <p:sp>
        <p:nvSpPr>
          <p:cNvPr id="23" name="Shape 21"/>
          <p:cNvSpPr/>
          <p:nvPr/>
        </p:nvSpPr>
        <p:spPr>
          <a:xfrm>
            <a:off x="10186416" y="1691640"/>
            <a:ext cx="1325880" cy="457200"/>
          </a:xfrm>
          <a:prstGeom prst="roundRect">
            <a:avLst>
              <a:gd name="adj" fmla="val 50000"/>
            </a:avLst>
          </a:prstGeom>
          <a:solidFill>
            <a:srgbClr val="151925"/>
          </a:solidFill>
          <a:ln w="9525">
            <a:solidFill>
              <a:srgbClr val="2A3042"/>
            </a:solidFill>
            <a:prstDash val="solid"/>
          </a:ln>
        </p:spPr>
      </p:sp>
      <p:sp>
        <p:nvSpPr>
          <p:cNvPr id="24" name="Text 22"/>
          <p:cNvSpPr txBox="1"/>
          <p:nvPr/>
        </p:nvSpPr>
        <p:spPr>
          <a:xfrm>
            <a:off x="10186416" y="1691640"/>
            <a:ext cx="1325880" cy="457200"/>
          </a:xfrm>
          <a:prstGeom prst="rect">
            <a:avLst/>
          </a:prstGeom>
          <a:noFill/>
          <a:ln/>
        </p:spPr>
        <p:txBody>
          <a:bodyPr wrap="square" lIns="0" tIns="0" rIns="0" bIns="0" rtlCol="0" anchor="ctr"/>
          <a:lstStyle/>
          <a:p>
            <a:pPr algn="ctr" indent="0" marL="0">
              <a:buNone/>
            </a:pPr>
            <a:r>
              <a:rPr lang="en-US" sz="1300" dirty="0">
                <a:solidFill>
                  <a:srgbClr val="A3AABB"/>
                </a:solidFill>
                <a:latin typeface="Segoe UI" pitchFamily="34" charset="0"/>
                <a:ea typeface="Segoe UI" pitchFamily="34" charset="-122"/>
                <a:cs typeface="Segoe UI" pitchFamily="34" charset="-120"/>
              </a:rPr>
              <a:t>act</a:t>
            </a:r>
            <a:endParaRPr lang="en-US" sz="1300" dirty="0"/>
          </a:p>
        </p:txBody>
      </p:sp>
      <p:sp>
        <p:nvSpPr>
          <p:cNvPr id="25" name="Shape 23"/>
          <p:cNvSpPr/>
          <p:nvPr/>
        </p:nvSpPr>
        <p:spPr>
          <a:xfrm>
            <a:off x="640080" y="2514600"/>
            <a:ext cx="6720840" cy="3611880"/>
          </a:xfrm>
          <a:prstGeom prst="roundRect">
            <a:avLst>
              <a:gd name="adj" fmla="val 3038"/>
            </a:avLst>
          </a:prstGeom>
          <a:solidFill>
            <a:srgbClr val="151925"/>
          </a:solidFill>
          <a:ln w="9525">
            <a:solidFill>
              <a:srgbClr val="2A3042"/>
            </a:solidFill>
            <a:prstDash val="solid"/>
          </a:ln>
        </p:spPr>
      </p:sp>
      <p:sp>
        <p:nvSpPr>
          <p:cNvPr id="26" name="Text 24"/>
          <p:cNvSpPr txBox="1"/>
          <p:nvPr/>
        </p:nvSpPr>
        <p:spPr>
          <a:xfrm>
            <a:off x="914400" y="2724912"/>
            <a:ext cx="6309360" cy="274320"/>
          </a:xfrm>
          <a:prstGeom prst="rect">
            <a:avLst/>
          </a:prstGeom>
          <a:noFill/>
          <a:ln/>
        </p:spPr>
        <p:txBody>
          <a:bodyPr wrap="square" lIns="0" tIns="0" rIns="0" bIns="0" rtlCol="0" anchor="t"/>
          <a:lstStyle/>
          <a:p>
            <a:pPr indent="0" marL="0">
              <a:buNone/>
            </a:pPr>
            <a:r>
              <a:rPr lang="en-US" sz="1100" b="1" spc="200" kern="0" dirty="0">
                <a:solidFill>
                  <a:srgbClr val="6B7285"/>
                </a:solidFill>
                <a:latin typeface="Segoe UI" pitchFamily="34" charset="0"/>
                <a:ea typeface="Segoe UI" pitchFamily="34" charset="-122"/>
                <a:cs typeface="Segoe UI" pitchFamily="34" charset="-120"/>
              </a:rPr>
              <a:t>TASK: 8× H100 FOR 6 HOURS, US WEST. FIVE PROVIDERS ANSWER:</a:t>
            </a:r>
            <a:endParaRPr lang="en-US" sz="1100" dirty="0"/>
          </a:p>
        </p:txBody>
      </p:sp>
      <p:sp>
        <p:nvSpPr>
          <p:cNvPr id="27" name="Shape 25"/>
          <p:cNvSpPr/>
          <p:nvPr/>
        </p:nvSpPr>
        <p:spPr>
          <a:xfrm>
            <a:off x="914400" y="3127248"/>
            <a:ext cx="402336" cy="402336"/>
          </a:xfrm>
          <a:prstGeom prst="roundRect">
            <a:avLst>
              <a:gd name="adj" fmla="val 18182"/>
            </a:avLst>
          </a:prstGeom>
          <a:solidFill>
            <a:srgbClr val="221E3D"/>
          </a:solidFill>
          <a:ln w="9525">
            <a:solidFill>
              <a:srgbClr val="5B4FC0"/>
            </a:solidFill>
            <a:prstDash val="solid"/>
          </a:ln>
        </p:spPr>
      </p:sp>
      <p:sp>
        <p:nvSpPr>
          <p:cNvPr id="28" name="Text 26"/>
          <p:cNvSpPr txBox="1"/>
          <p:nvPr/>
        </p:nvSpPr>
        <p:spPr>
          <a:xfrm>
            <a:off x="914400" y="3127248"/>
            <a:ext cx="402336" cy="402336"/>
          </a:xfrm>
          <a:prstGeom prst="rect">
            <a:avLst/>
          </a:prstGeom>
          <a:noFill/>
          <a:ln/>
        </p:spPr>
        <p:txBody>
          <a:bodyPr wrap="square" lIns="0" tIns="0" rIns="0" bIns="0" rtlCol="0" anchor="ctr"/>
          <a:lstStyle/>
          <a:p>
            <a:pPr algn="ctr" indent="0" marL="0">
              <a:buNone/>
            </a:pPr>
            <a:r>
              <a:rPr lang="en-US" sz="1400" b="1" dirty="0">
                <a:solidFill>
                  <a:srgbClr val="B7ADFF"/>
                </a:solidFill>
                <a:latin typeface="Segoe UI" pitchFamily="34" charset="0"/>
                <a:ea typeface="Segoe UI" pitchFamily="34" charset="-122"/>
                <a:cs typeface="Segoe UI" pitchFamily="34" charset="-120"/>
              </a:rPr>
              <a:t>A</a:t>
            </a:r>
            <a:endParaRPr lang="en-US" sz="1400" dirty="0"/>
          </a:p>
        </p:txBody>
      </p:sp>
      <p:sp>
        <p:nvSpPr>
          <p:cNvPr id="29" name="Text 27"/>
          <p:cNvSpPr txBox="1"/>
          <p:nvPr/>
        </p:nvSpPr>
        <p:spPr>
          <a:xfrm>
            <a:off x="1481328" y="3127248"/>
            <a:ext cx="3429000" cy="402336"/>
          </a:xfrm>
          <a:prstGeom prst="rect">
            <a:avLst/>
          </a:prstGeom>
          <a:noFill/>
          <a:ln/>
        </p:spPr>
        <p:txBody>
          <a:bodyPr wrap="square" lIns="0" tIns="0" rIns="0" bIns="0" rtlCol="0" anchor="ctr"/>
          <a:lstStyle/>
          <a:p>
            <a:pPr indent="0" marL="0">
              <a:buNone/>
            </a:pPr>
            <a:r>
              <a:rPr lang="en-US" sz="1300" dirty="0">
                <a:solidFill>
                  <a:srgbClr val="EEF0F5"/>
                </a:solidFill>
                <a:latin typeface="Consolas" pitchFamily="34" charset="0"/>
                <a:ea typeface="Consolas" pitchFamily="34" charset="-122"/>
                <a:cs typeface="Consolas" pitchFamily="34" charset="-120"/>
              </a:rPr>
              <a:t>usd_per_gpu_hour: 2.49</a:t>
            </a:r>
            <a:endParaRPr lang="en-US" sz="1300" dirty="0"/>
          </a:p>
        </p:txBody>
      </p:sp>
      <p:sp>
        <p:nvSpPr>
          <p:cNvPr id="30" name="Text 28"/>
          <p:cNvSpPr txBox="1"/>
          <p:nvPr/>
        </p:nvSpPr>
        <p:spPr>
          <a:xfrm>
            <a:off x="4983480" y="3127248"/>
            <a:ext cx="2240280" cy="402336"/>
          </a:xfrm>
          <a:prstGeom prst="rect">
            <a:avLst/>
          </a:prstGeom>
          <a:noFill/>
          <a:ln/>
        </p:spPr>
        <p:txBody>
          <a:bodyPr wrap="square" lIns="0" tIns="0" rIns="0" bIns="0" rtlCol="0" anchor="ctr"/>
          <a:lstStyle/>
          <a:p>
            <a:pPr indent="0" marL="0">
              <a:buNone/>
            </a:pPr>
            <a:r>
              <a:rPr lang="en-US" sz="1300" dirty="0">
                <a:solidFill>
                  <a:srgbClr val="A3AABB"/>
                </a:solidFill>
                <a:latin typeface="Segoe UI" pitchFamily="34" charset="0"/>
                <a:ea typeface="Segoe UI" pitchFamily="34" charset="-122"/>
                <a:cs typeface="Segoe UI" pitchFamily="34" charset="-120"/>
              </a:rPr>
              <a:t>clean, per GPU-hour</a:t>
            </a:r>
            <a:endParaRPr lang="en-US" sz="1300" dirty="0"/>
          </a:p>
        </p:txBody>
      </p:sp>
      <p:sp>
        <p:nvSpPr>
          <p:cNvPr id="31" name="Shape 29"/>
          <p:cNvSpPr/>
          <p:nvPr/>
        </p:nvSpPr>
        <p:spPr>
          <a:xfrm>
            <a:off x="914400" y="3703320"/>
            <a:ext cx="402336" cy="402336"/>
          </a:xfrm>
          <a:prstGeom prst="roundRect">
            <a:avLst>
              <a:gd name="adj" fmla="val 18182"/>
            </a:avLst>
          </a:prstGeom>
          <a:solidFill>
            <a:srgbClr val="221E3D"/>
          </a:solidFill>
          <a:ln w="9525">
            <a:solidFill>
              <a:srgbClr val="5B4FC0"/>
            </a:solidFill>
            <a:prstDash val="solid"/>
          </a:ln>
        </p:spPr>
      </p:sp>
      <p:sp>
        <p:nvSpPr>
          <p:cNvPr id="32" name="Text 30"/>
          <p:cNvSpPr txBox="1"/>
          <p:nvPr/>
        </p:nvSpPr>
        <p:spPr>
          <a:xfrm>
            <a:off x="914400" y="3703320"/>
            <a:ext cx="402336" cy="402336"/>
          </a:xfrm>
          <a:prstGeom prst="rect">
            <a:avLst/>
          </a:prstGeom>
          <a:noFill/>
          <a:ln/>
        </p:spPr>
        <p:txBody>
          <a:bodyPr wrap="square" lIns="0" tIns="0" rIns="0" bIns="0" rtlCol="0" anchor="ctr"/>
          <a:lstStyle/>
          <a:p>
            <a:pPr algn="ctr" indent="0" marL="0">
              <a:buNone/>
            </a:pPr>
            <a:r>
              <a:rPr lang="en-US" sz="1400" b="1" dirty="0">
                <a:solidFill>
                  <a:srgbClr val="B7ADFF"/>
                </a:solidFill>
                <a:latin typeface="Segoe UI" pitchFamily="34" charset="0"/>
                <a:ea typeface="Segoe UI" pitchFamily="34" charset="-122"/>
                <a:cs typeface="Segoe UI" pitchFamily="34" charset="-120"/>
              </a:rPr>
              <a:t>B</a:t>
            </a:r>
            <a:endParaRPr lang="en-US" sz="1400" dirty="0"/>
          </a:p>
        </p:txBody>
      </p:sp>
      <p:sp>
        <p:nvSpPr>
          <p:cNvPr id="33" name="Text 31"/>
          <p:cNvSpPr txBox="1"/>
          <p:nvPr/>
        </p:nvSpPr>
        <p:spPr>
          <a:xfrm>
            <a:off x="1481328" y="3703320"/>
            <a:ext cx="3429000" cy="402336"/>
          </a:xfrm>
          <a:prstGeom prst="rect">
            <a:avLst/>
          </a:prstGeom>
          <a:noFill/>
          <a:ln/>
        </p:spPr>
        <p:txBody>
          <a:bodyPr wrap="square" lIns="0" tIns="0" rIns="0" bIns="0" rtlCol="0" anchor="ctr"/>
          <a:lstStyle/>
          <a:p>
            <a:pPr indent="0" marL="0">
              <a:buNone/>
            </a:pPr>
            <a:r>
              <a:rPr lang="en-US" sz="1300" dirty="0">
                <a:solidFill>
                  <a:srgbClr val="EEF0F5"/>
                </a:solidFill>
                <a:latin typeface="Consolas" pitchFamily="34" charset="0"/>
                <a:ea typeface="Consolas" pitchFamily="34" charset="-122"/>
                <a:cs typeface="Consolas" pitchFamily="34" charset="-120"/>
              </a:rPr>
              <a:t>"$19.92/hr" for 8xH100</a:t>
            </a:r>
            <a:endParaRPr lang="en-US" sz="1300" dirty="0"/>
          </a:p>
        </p:txBody>
      </p:sp>
      <p:sp>
        <p:nvSpPr>
          <p:cNvPr id="34" name="Text 32"/>
          <p:cNvSpPr txBox="1"/>
          <p:nvPr/>
        </p:nvSpPr>
        <p:spPr>
          <a:xfrm>
            <a:off x="4983480" y="3703320"/>
            <a:ext cx="2240280" cy="402336"/>
          </a:xfrm>
          <a:prstGeom prst="rect">
            <a:avLst/>
          </a:prstGeom>
          <a:noFill/>
          <a:ln/>
        </p:spPr>
        <p:txBody>
          <a:bodyPr wrap="square" lIns="0" tIns="0" rIns="0" bIns="0" rtlCol="0" anchor="ctr"/>
          <a:lstStyle/>
          <a:p>
            <a:pPr indent="0" marL="0">
              <a:buNone/>
            </a:pPr>
            <a:r>
              <a:rPr lang="en-US" sz="1300" dirty="0">
                <a:solidFill>
                  <a:srgbClr val="A3AABB"/>
                </a:solidFill>
                <a:latin typeface="Segoe UI" pitchFamily="34" charset="0"/>
                <a:ea typeface="Segoe UI" pitchFamily="34" charset="-122"/>
                <a:cs typeface="Segoe UI" pitchFamily="34" charset="-120"/>
              </a:rPr>
              <a:t>whole machine → ÷ 8</a:t>
            </a:r>
            <a:endParaRPr lang="en-US" sz="1300" dirty="0"/>
          </a:p>
        </p:txBody>
      </p:sp>
      <p:sp>
        <p:nvSpPr>
          <p:cNvPr id="35" name="Shape 33"/>
          <p:cNvSpPr/>
          <p:nvPr/>
        </p:nvSpPr>
        <p:spPr>
          <a:xfrm>
            <a:off x="914400" y="4279392"/>
            <a:ext cx="402336" cy="402336"/>
          </a:xfrm>
          <a:prstGeom prst="roundRect">
            <a:avLst>
              <a:gd name="adj" fmla="val 18182"/>
            </a:avLst>
          </a:prstGeom>
          <a:solidFill>
            <a:srgbClr val="2A2215"/>
          </a:solidFill>
          <a:ln w="9525">
            <a:solidFill>
              <a:srgbClr val="7A5A22"/>
            </a:solidFill>
            <a:prstDash val="solid"/>
          </a:ln>
        </p:spPr>
      </p:sp>
      <p:sp>
        <p:nvSpPr>
          <p:cNvPr id="36" name="Text 34"/>
          <p:cNvSpPr txBox="1"/>
          <p:nvPr/>
        </p:nvSpPr>
        <p:spPr>
          <a:xfrm>
            <a:off x="914400" y="4279392"/>
            <a:ext cx="402336" cy="402336"/>
          </a:xfrm>
          <a:prstGeom prst="rect">
            <a:avLst/>
          </a:prstGeom>
          <a:noFill/>
          <a:ln/>
        </p:spPr>
        <p:txBody>
          <a:bodyPr wrap="square" lIns="0" tIns="0" rIns="0" bIns="0" rtlCol="0" anchor="ctr"/>
          <a:lstStyle/>
          <a:p>
            <a:pPr algn="ctr" indent="0" marL="0">
              <a:buNone/>
            </a:pPr>
            <a:r>
              <a:rPr lang="en-US" sz="1400" b="1" dirty="0">
                <a:solidFill>
                  <a:srgbClr val="F5B546"/>
                </a:solidFill>
                <a:latin typeface="Segoe UI" pitchFamily="34" charset="0"/>
                <a:ea typeface="Segoe UI" pitchFamily="34" charset="-122"/>
                <a:cs typeface="Segoe UI" pitchFamily="34" charset="-120"/>
              </a:rPr>
              <a:t>C</a:t>
            </a:r>
            <a:endParaRPr lang="en-US" sz="1400" dirty="0"/>
          </a:p>
        </p:txBody>
      </p:sp>
      <p:sp>
        <p:nvSpPr>
          <p:cNvPr id="37" name="Text 35"/>
          <p:cNvSpPr txBox="1"/>
          <p:nvPr/>
        </p:nvSpPr>
        <p:spPr>
          <a:xfrm>
            <a:off x="1481328" y="4279392"/>
            <a:ext cx="3429000" cy="402336"/>
          </a:xfrm>
          <a:prstGeom prst="rect">
            <a:avLst/>
          </a:prstGeom>
          <a:noFill/>
          <a:ln/>
        </p:spPr>
        <p:txBody>
          <a:bodyPr wrap="square" lIns="0" tIns="0" rIns="0" bIns="0" rtlCol="0" anchor="ctr"/>
          <a:lstStyle/>
          <a:p>
            <a:pPr indent="0" marL="0">
              <a:buNone/>
            </a:pPr>
            <a:r>
              <a:rPr lang="en-US" sz="1300" dirty="0">
                <a:solidFill>
                  <a:srgbClr val="FB7185"/>
                </a:solidFill>
                <a:latin typeface="Consolas" pitchFamily="34" charset="0"/>
                <a:ea typeface="Consolas" pitchFamily="34" charset="-122"/>
                <a:cs typeface="Consolas" pitchFamily="34" charset="-120"/>
              </a:rPr>
              <a:t>503 → "starting at $24.80/hr"</a:t>
            </a:r>
            <a:endParaRPr lang="en-US" sz="1300" dirty="0"/>
          </a:p>
        </p:txBody>
      </p:sp>
      <p:sp>
        <p:nvSpPr>
          <p:cNvPr id="38" name="Text 36"/>
          <p:cNvSpPr txBox="1"/>
          <p:nvPr/>
        </p:nvSpPr>
        <p:spPr>
          <a:xfrm>
            <a:off x="4983480" y="4279392"/>
            <a:ext cx="2240280" cy="402336"/>
          </a:xfrm>
          <a:prstGeom prst="rect">
            <a:avLst/>
          </a:prstGeom>
          <a:noFill/>
          <a:ln/>
        </p:spPr>
        <p:txBody>
          <a:bodyPr wrap="square" lIns="0" tIns="0" rIns="0" bIns="0" rtlCol="0" anchor="ctr"/>
          <a:lstStyle/>
          <a:p>
            <a:pPr indent="0" marL="0">
              <a:buNone/>
            </a:pPr>
            <a:r>
              <a:rPr lang="en-US" sz="1300" dirty="0">
                <a:solidFill>
                  <a:srgbClr val="A3AABB"/>
                </a:solidFill>
                <a:latin typeface="Segoe UI" pitchFamily="34" charset="0"/>
                <a:ea typeface="Segoe UI" pitchFamily="34" charset="-122"/>
                <a:cs typeface="Segoe UI" pitchFamily="34" charset="-120"/>
              </a:rPr>
              <a:t>outage + a floor price</a:t>
            </a:r>
            <a:endParaRPr lang="en-US" sz="1300" dirty="0"/>
          </a:p>
        </p:txBody>
      </p:sp>
      <p:sp>
        <p:nvSpPr>
          <p:cNvPr id="39" name="Shape 37"/>
          <p:cNvSpPr/>
          <p:nvPr/>
        </p:nvSpPr>
        <p:spPr>
          <a:xfrm>
            <a:off x="914400" y="4855464"/>
            <a:ext cx="402336" cy="402336"/>
          </a:xfrm>
          <a:prstGeom prst="roundRect">
            <a:avLst>
              <a:gd name="adj" fmla="val 18182"/>
            </a:avLst>
          </a:prstGeom>
          <a:solidFill>
            <a:srgbClr val="221E3D"/>
          </a:solidFill>
          <a:ln w="9525">
            <a:solidFill>
              <a:srgbClr val="5B4FC0"/>
            </a:solidFill>
            <a:prstDash val="solid"/>
          </a:ln>
        </p:spPr>
      </p:sp>
      <p:sp>
        <p:nvSpPr>
          <p:cNvPr id="40" name="Text 38"/>
          <p:cNvSpPr txBox="1"/>
          <p:nvPr/>
        </p:nvSpPr>
        <p:spPr>
          <a:xfrm>
            <a:off x="914400" y="4855464"/>
            <a:ext cx="402336" cy="402336"/>
          </a:xfrm>
          <a:prstGeom prst="rect">
            <a:avLst/>
          </a:prstGeom>
          <a:noFill/>
          <a:ln/>
        </p:spPr>
        <p:txBody>
          <a:bodyPr wrap="square" lIns="0" tIns="0" rIns="0" bIns="0" rtlCol="0" anchor="ctr"/>
          <a:lstStyle/>
          <a:p>
            <a:pPr algn="ctr" indent="0" marL="0">
              <a:buNone/>
            </a:pPr>
            <a:r>
              <a:rPr lang="en-US" sz="1400" b="1" dirty="0">
                <a:solidFill>
                  <a:srgbClr val="B7ADFF"/>
                </a:solidFill>
                <a:latin typeface="Segoe UI" pitchFamily="34" charset="0"/>
                <a:ea typeface="Segoe UI" pitchFamily="34" charset="-122"/>
                <a:cs typeface="Segoe UI" pitchFamily="34" charset="-120"/>
              </a:rPr>
              <a:t>D</a:t>
            </a:r>
            <a:endParaRPr lang="en-US" sz="1400" dirty="0"/>
          </a:p>
        </p:txBody>
      </p:sp>
      <p:sp>
        <p:nvSpPr>
          <p:cNvPr id="41" name="Text 39"/>
          <p:cNvSpPr txBox="1"/>
          <p:nvPr/>
        </p:nvSpPr>
        <p:spPr>
          <a:xfrm>
            <a:off x="1481328" y="4855464"/>
            <a:ext cx="3429000" cy="402336"/>
          </a:xfrm>
          <a:prstGeom prst="rect">
            <a:avLst/>
          </a:prstGeom>
          <a:noFill/>
          <a:ln/>
        </p:spPr>
        <p:txBody>
          <a:bodyPr wrap="square" lIns="0" tIns="0" rIns="0" bIns="0" rtlCol="0" anchor="ctr"/>
          <a:lstStyle/>
          <a:p>
            <a:pPr indent="0" marL="0">
              <a:buNone/>
            </a:pPr>
            <a:r>
              <a:rPr lang="en-US" sz="1300" dirty="0">
                <a:solidFill>
                  <a:srgbClr val="EEF0F5"/>
                </a:solidFill>
                <a:latin typeface="Consolas" pitchFamily="34" charset="0"/>
                <a:ea typeface="Consolas" pitchFamily="34" charset="-122"/>
                <a:cs typeface="Consolas" pitchFamily="34" charset="-120"/>
              </a:rPr>
              <a:t>0.00082 USD/GPU-second</a:t>
            </a:r>
            <a:endParaRPr lang="en-US" sz="1300" dirty="0"/>
          </a:p>
        </p:txBody>
      </p:sp>
      <p:sp>
        <p:nvSpPr>
          <p:cNvPr id="42" name="Text 40"/>
          <p:cNvSpPr txBox="1"/>
          <p:nvPr/>
        </p:nvSpPr>
        <p:spPr>
          <a:xfrm>
            <a:off x="4983480" y="4855464"/>
            <a:ext cx="2240280" cy="402336"/>
          </a:xfrm>
          <a:prstGeom prst="rect">
            <a:avLst/>
          </a:prstGeom>
          <a:noFill/>
          <a:ln/>
        </p:spPr>
        <p:txBody>
          <a:bodyPr wrap="square" lIns="0" tIns="0" rIns="0" bIns="0" rtlCol="0" anchor="ctr"/>
          <a:lstStyle/>
          <a:p>
            <a:pPr indent="0" marL="0">
              <a:buNone/>
            </a:pPr>
            <a:r>
              <a:rPr lang="en-US" sz="1300" dirty="0">
                <a:solidFill>
                  <a:srgbClr val="A3AABB"/>
                </a:solidFill>
                <a:latin typeface="Segoe UI" pitchFamily="34" charset="0"/>
                <a:ea typeface="Segoe UI" pitchFamily="34" charset="-122"/>
                <a:cs typeface="Segoe UI" pitchFamily="34" charset="-120"/>
              </a:rPr>
              <a:t>per second → × 3600</a:t>
            </a:r>
            <a:endParaRPr lang="en-US" sz="1300" dirty="0"/>
          </a:p>
        </p:txBody>
      </p:sp>
      <p:sp>
        <p:nvSpPr>
          <p:cNvPr id="43" name="Shape 41"/>
          <p:cNvSpPr/>
          <p:nvPr/>
        </p:nvSpPr>
        <p:spPr>
          <a:xfrm>
            <a:off x="914400" y="5431536"/>
            <a:ext cx="402336" cy="402336"/>
          </a:xfrm>
          <a:prstGeom prst="roundRect">
            <a:avLst>
              <a:gd name="adj" fmla="val 18182"/>
            </a:avLst>
          </a:prstGeom>
          <a:solidFill>
            <a:srgbClr val="221E3D"/>
          </a:solidFill>
          <a:ln w="9525">
            <a:solidFill>
              <a:srgbClr val="5B4FC0"/>
            </a:solidFill>
            <a:prstDash val="solid"/>
          </a:ln>
        </p:spPr>
      </p:sp>
      <p:sp>
        <p:nvSpPr>
          <p:cNvPr id="44" name="Text 42"/>
          <p:cNvSpPr txBox="1"/>
          <p:nvPr/>
        </p:nvSpPr>
        <p:spPr>
          <a:xfrm>
            <a:off x="914400" y="5431536"/>
            <a:ext cx="402336" cy="402336"/>
          </a:xfrm>
          <a:prstGeom prst="rect">
            <a:avLst/>
          </a:prstGeom>
          <a:noFill/>
          <a:ln/>
        </p:spPr>
        <p:txBody>
          <a:bodyPr wrap="square" lIns="0" tIns="0" rIns="0" bIns="0" rtlCol="0" anchor="ctr"/>
          <a:lstStyle/>
          <a:p>
            <a:pPr algn="ctr" indent="0" marL="0">
              <a:buNone/>
            </a:pPr>
            <a:r>
              <a:rPr lang="en-US" sz="1400" b="1" dirty="0">
                <a:solidFill>
                  <a:srgbClr val="B7ADFF"/>
                </a:solidFill>
                <a:latin typeface="Segoe UI" pitchFamily="34" charset="0"/>
                <a:ea typeface="Segoe UI" pitchFamily="34" charset="-122"/>
                <a:cs typeface="Segoe UI" pitchFamily="34" charset="-120"/>
              </a:rPr>
              <a:t>E</a:t>
            </a:r>
            <a:endParaRPr lang="en-US" sz="1400" dirty="0"/>
          </a:p>
        </p:txBody>
      </p:sp>
      <p:sp>
        <p:nvSpPr>
          <p:cNvPr id="45" name="Text 43"/>
          <p:cNvSpPr txBox="1"/>
          <p:nvPr/>
        </p:nvSpPr>
        <p:spPr>
          <a:xfrm>
            <a:off x="1481328" y="5431536"/>
            <a:ext cx="3429000" cy="402336"/>
          </a:xfrm>
          <a:prstGeom prst="rect">
            <a:avLst/>
          </a:prstGeom>
          <a:noFill/>
          <a:ln/>
        </p:spPr>
        <p:txBody>
          <a:bodyPr wrap="square" lIns="0" tIns="0" rIns="0" bIns="0" rtlCol="0" anchor="ctr"/>
          <a:lstStyle/>
          <a:p>
            <a:pPr indent="0" marL="0">
              <a:buNone/>
            </a:pPr>
            <a:r>
              <a:rPr lang="en-US" sz="1300" dirty="0">
                <a:solidFill>
                  <a:srgbClr val="EEF0F5"/>
                </a:solidFill>
                <a:latin typeface="Consolas" pitchFamily="34" charset="0"/>
                <a:ea typeface="Consolas" pitchFamily="34" charset="-122"/>
                <a:cs typeface="Consolas" pitchFamily="34" charset="-120"/>
              </a:rPr>
              <a:t>CSV: $3.10 per GPU / hour</a:t>
            </a:r>
            <a:endParaRPr lang="en-US" sz="1300" dirty="0"/>
          </a:p>
        </p:txBody>
      </p:sp>
      <p:sp>
        <p:nvSpPr>
          <p:cNvPr id="46" name="Text 44"/>
          <p:cNvSpPr txBox="1"/>
          <p:nvPr/>
        </p:nvSpPr>
        <p:spPr>
          <a:xfrm>
            <a:off x="4983480" y="5431536"/>
            <a:ext cx="2240280" cy="402336"/>
          </a:xfrm>
          <a:prstGeom prst="rect">
            <a:avLst/>
          </a:prstGeom>
          <a:noFill/>
          <a:ln/>
        </p:spPr>
        <p:txBody>
          <a:bodyPr wrap="square" lIns="0" tIns="0" rIns="0" bIns="0" rtlCol="0" anchor="ctr"/>
          <a:lstStyle/>
          <a:p>
            <a:pPr indent="0" marL="0">
              <a:buNone/>
            </a:pPr>
            <a:r>
              <a:rPr lang="en-US" sz="1300" dirty="0">
                <a:solidFill>
                  <a:srgbClr val="A3AABB"/>
                </a:solidFill>
                <a:latin typeface="Segoe UI" pitchFamily="34" charset="0"/>
                <a:ea typeface="Segoe UI" pitchFamily="34" charset="-122"/>
                <a:cs typeface="Segoe UI" pitchFamily="34" charset="-120"/>
              </a:rPr>
              <a:t>no GPU count, no billing</a:t>
            </a:r>
            <a:endParaRPr lang="en-US" sz="1300" dirty="0"/>
          </a:p>
        </p:txBody>
      </p:sp>
      <p:sp>
        <p:nvSpPr>
          <p:cNvPr id="47" name="Shape 45"/>
          <p:cNvSpPr/>
          <p:nvPr/>
        </p:nvSpPr>
        <p:spPr>
          <a:xfrm>
            <a:off x="7589520" y="2514600"/>
            <a:ext cx="3959352" cy="3611880"/>
          </a:xfrm>
          <a:prstGeom prst="roundRect">
            <a:avLst>
              <a:gd name="adj" fmla="val 3038"/>
            </a:avLst>
          </a:prstGeom>
          <a:solidFill>
            <a:srgbClr val="151925"/>
          </a:solidFill>
          <a:ln w="9525">
            <a:solidFill>
              <a:srgbClr val="2A3042"/>
            </a:solidFill>
            <a:prstDash val="solid"/>
          </a:ln>
        </p:spPr>
      </p:sp>
      <p:sp>
        <p:nvSpPr>
          <p:cNvPr id="48" name="Text 46"/>
          <p:cNvSpPr txBox="1"/>
          <p:nvPr/>
        </p:nvSpPr>
        <p:spPr>
          <a:xfrm>
            <a:off x="7863840" y="2724912"/>
            <a:ext cx="3566160" cy="274320"/>
          </a:xfrm>
          <a:prstGeom prst="rect">
            <a:avLst/>
          </a:prstGeom>
          <a:noFill/>
          <a:ln/>
        </p:spPr>
        <p:txBody>
          <a:bodyPr wrap="square" lIns="0" tIns="0" rIns="0" bIns="0" rtlCol="0" anchor="t"/>
          <a:lstStyle/>
          <a:p>
            <a:pPr indent="0" marL="0">
              <a:buNone/>
            </a:pPr>
            <a:r>
              <a:rPr lang="en-US" sz="1100" b="1" spc="200" kern="0" dirty="0">
                <a:solidFill>
                  <a:srgbClr val="6B7285"/>
                </a:solidFill>
                <a:latin typeface="Segoe UI" pitchFamily="34" charset="0"/>
                <a:ea typeface="Segoe UI" pitchFamily="34" charset="-122"/>
                <a:cs typeface="Segoe UI" pitchFamily="34" charset="-120"/>
              </a:rPr>
              <a:t>IF THE PLANNER PLUMBS IT ITSELF</a:t>
            </a:r>
            <a:endParaRPr lang="en-US" sz="1100" dirty="0"/>
          </a:p>
        </p:txBody>
      </p:sp>
      <p:pic>
        <p:nvPicPr>
          <p:cNvPr id="49" name="Image 0" descr="preencoded.png">    </p:cNvPr>
          <p:cNvPicPr>
            <a:picLocks noChangeAspect="1"/>
          </p:cNvPicPr>
          <p:nvPr/>
        </p:nvPicPr>
        <p:blipFill>
          <a:blip r:embed="rId1"/>
          <a:stretch>
            <a:fillRect/>
          </a:stretch>
        </p:blipFill>
        <p:spPr>
          <a:xfrm>
            <a:off x="7863840" y="3200400"/>
            <a:ext cx="256032" cy="256032"/>
          </a:xfrm>
          <a:prstGeom prst="rect">
            <a:avLst/>
          </a:prstGeom>
        </p:spPr>
      </p:pic>
      <p:sp>
        <p:nvSpPr>
          <p:cNvPr id="50" name="Text 47"/>
          <p:cNvSpPr txBox="1"/>
          <p:nvPr/>
        </p:nvSpPr>
        <p:spPr>
          <a:xfrm>
            <a:off x="8247888" y="3127248"/>
            <a:ext cx="3108960" cy="420624"/>
          </a:xfrm>
          <a:prstGeom prst="rect">
            <a:avLst/>
          </a:prstGeom>
          <a:noFill/>
          <a:ln/>
        </p:spPr>
        <p:txBody>
          <a:bodyPr wrap="square" lIns="0" tIns="0" rIns="0" bIns="0" rtlCol="0" anchor="ctr"/>
          <a:lstStyle/>
          <a:p>
            <a:pPr indent="0" marL="0">
              <a:buNone/>
            </a:pPr>
            <a:r>
              <a:rPr lang="en-US" sz="1300" dirty="0">
                <a:solidFill>
                  <a:srgbClr val="EEF0F5"/>
                </a:solidFill>
                <a:latin typeface="Segoe UI" pitchFamily="34" charset="0"/>
                <a:ea typeface="Segoe UI" pitchFamily="34" charset="-122"/>
                <a:cs typeface="Segoe UI" pitchFamily="34" charset="-120"/>
              </a:rPr>
              <a:t>Raw payloads bloat context; every later turn costs more</a:t>
            </a:r>
            <a:endParaRPr lang="en-US" sz="1300" dirty="0"/>
          </a:p>
        </p:txBody>
      </p:sp>
      <p:pic>
        <p:nvPicPr>
          <p:cNvPr id="51" name="Image 1" descr="preencoded.png">    </p:cNvPr>
          <p:cNvPicPr>
            <a:picLocks noChangeAspect="1"/>
          </p:cNvPicPr>
          <p:nvPr/>
        </p:nvPicPr>
        <p:blipFill>
          <a:blip r:embed="rId2"/>
          <a:stretch>
            <a:fillRect/>
          </a:stretch>
        </p:blipFill>
        <p:spPr>
          <a:xfrm>
            <a:off x="7863840" y="3776472"/>
            <a:ext cx="256032" cy="256032"/>
          </a:xfrm>
          <a:prstGeom prst="rect">
            <a:avLst/>
          </a:prstGeom>
        </p:spPr>
      </p:pic>
      <p:sp>
        <p:nvSpPr>
          <p:cNvPr id="52" name="Text 48"/>
          <p:cNvSpPr txBox="1"/>
          <p:nvPr/>
        </p:nvSpPr>
        <p:spPr>
          <a:xfrm>
            <a:off x="8247888" y="3703320"/>
            <a:ext cx="3108960" cy="420624"/>
          </a:xfrm>
          <a:prstGeom prst="rect">
            <a:avLst/>
          </a:prstGeom>
          <a:noFill/>
          <a:ln/>
        </p:spPr>
        <p:txBody>
          <a:bodyPr wrap="square" lIns="0" tIns="0" rIns="0" bIns="0" rtlCol="0" anchor="ctr"/>
          <a:lstStyle/>
          <a:p>
            <a:pPr indent="0" marL="0">
              <a:buNone/>
            </a:pPr>
            <a:r>
              <a:rPr lang="en-US" sz="1300" dirty="0">
                <a:solidFill>
                  <a:srgbClr val="EEF0F5"/>
                </a:solidFill>
                <a:latin typeface="Segoe UI" pitchFamily="34" charset="0"/>
                <a:ea typeface="Segoe UI" pitchFamily="34" charset="-122"/>
                <a:cs typeface="Segoe UI" pitchFamily="34" charset="-120"/>
              </a:rPr>
              <a:t>Unit math slips (÷ 8, × 3600)</a:t>
            </a:r>
            <a:endParaRPr lang="en-US" sz="1300" dirty="0"/>
          </a:p>
        </p:txBody>
      </p:sp>
      <p:pic>
        <p:nvPicPr>
          <p:cNvPr id="53" name="Image 2" descr="preencoded.png">    </p:cNvPr>
          <p:cNvPicPr>
            <a:picLocks noChangeAspect="1"/>
          </p:cNvPicPr>
          <p:nvPr/>
        </p:nvPicPr>
        <p:blipFill>
          <a:blip r:embed="rId3"/>
          <a:stretch>
            <a:fillRect/>
          </a:stretch>
        </p:blipFill>
        <p:spPr>
          <a:xfrm>
            <a:off x="7863840" y="4352544"/>
            <a:ext cx="256032" cy="256032"/>
          </a:xfrm>
          <a:prstGeom prst="rect">
            <a:avLst/>
          </a:prstGeom>
        </p:spPr>
      </p:pic>
      <p:sp>
        <p:nvSpPr>
          <p:cNvPr id="54" name="Text 49"/>
          <p:cNvSpPr txBox="1"/>
          <p:nvPr/>
        </p:nvSpPr>
        <p:spPr>
          <a:xfrm>
            <a:off x="8247888" y="4279392"/>
            <a:ext cx="3108960" cy="420624"/>
          </a:xfrm>
          <a:prstGeom prst="rect">
            <a:avLst/>
          </a:prstGeom>
          <a:noFill/>
          <a:ln/>
        </p:spPr>
        <p:txBody>
          <a:bodyPr wrap="square" lIns="0" tIns="0" rIns="0" bIns="0" rtlCol="0" anchor="ctr"/>
          <a:lstStyle/>
          <a:p>
            <a:pPr indent="0" marL="0">
              <a:buNone/>
            </a:pPr>
            <a:r>
              <a:rPr lang="en-US" sz="1300" dirty="0">
                <a:solidFill>
                  <a:srgbClr val="EEF0F5"/>
                </a:solidFill>
                <a:latin typeface="Segoe UI" pitchFamily="34" charset="0"/>
                <a:ea typeface="Segoe UI" pitchFamily="34" charset="-122"/>
                <a:cs typeface="Segoe UI" pitchFamily="34" charset="-120"/>
              </a:rPr>
              <a:t>Unknown fields become confident guesses</a:t>
            </a:r>
            <a:endParaRPr lang="en-US" sz="1300" dirty="0"/>
          </a:p>
        </p:txBody>
      </p:sp>
      <p:pic>
        <p:nvPicPr>
          <p:cNvPr id="55" name="Image 3" descr="preencoded.png">    </p:cNvPr>
          <p:cNvPicPr>
            <a:picLocks noChangeAspect="1"/>
          </p:cNvPicPr>
          <p:nvPr/>
        </p:nvPicPr>
        <p:blipFill>
          <a:blip r:embed="rId4"/>
          <a:stretch>
            <a:fillRect/>
          </a:stretch>
        </p:blipFill>
        <p:spPr>
          <a:xfrm>
            <a:off x="7863840" y="4928616"/>
            <a:ext cx="256032" cy="256032"/>
          </a:xfrm>
          <a:prstGeom prst="rect">
            <a:avLst/>
          </a:prstGeom>
        </p:spPr>
      </p:pic>
      <p:sp>
        <p:nvSpPr>
          <p:cNvPr id="56" name="Text 50"/>
          <p:cNvSpPr txBox="1"/>
          <p:nvPr/>
        </p:nvSpPr>
        <p:spPr>
          <a:xfrm>
            <a:off x="8247888" y="4855464"/>
            <a:ext cx="3108960" cy="420624"/>
          </a:xfrm>
          <a:prstGeom prst="rect">
            <a:avLst/>
          </a:prstGeom>
          <a:noFill/>
          <a:ln/>
        </p:spPr>
        <p:txBody>
          <a:bodyPr wrap="square" lIns="0" tIns="0" rIns="0" bIns="0" rtlCol="0" anchor="ctr"/>
          <a:lstStyle/>
          <a:p>
            <a:pPr indent="0" marL="0">
              <a:buNone/>
            </a:pPr>
            <a:r>
              <a:rPr lang="en-US" sz="1300" dirty="0">
                <a:solidFill>
                  <a:srgbClr val="EEF0F5"/>
                </a:solidFill>
                <a:latin typeface="Segoe UI" pitchFamily="34" charset="0"/>
                <a:ea typeface="Segoe UI" pitchFamily="34" charset="-122"/>
                <a:cs typeface="Segoe UI" pitchFamily="34" charset="-120"/>
              </a:rPr>
              <a:t>“Starting at” silently becomes a price</a:t>
            </a:r>
            <a:endParaRPr lang="en-US" sz="1300" dirty="0"/>
          </a:p>
        </p:txBody>
      </p:sp>
      <p:pic>
        <p:nvPicPr>
          <p:cNvPr id="57" name="Image 4" descr="preencoded.png">    </p:cNvPr>
          <p:cNvPicPr>
            <a:picLocks noChangeAspect="1"/>
          </p:cNvPicPr>
          <p:nvPr/>
        </p:nvPicPr>
        <p:blipFill>
          <a:blip r:embed="rId5"/>
          <a:stretch>
            <a:fillRect/>
          </a:stretch>
        </p:blipFill>
        <p:spPr>
          <a:xfrm>
            <a:off x="7863840" y="5504688"/>
            <a:ext cx="256032" cy="256032"/>
          </a:xfrm>
          <a:prstGeom prst="rect">
            <a:avLst/>
          </a:prstGeom>
        </p:spPr>
      </p:pic>
      <p:sp>
        <p:nvSpPr>
          <p:cNvPr id="58" name="Text 51"/>
          <p:cNvSpPr txBox="1"/>
          <p:nvPr/>
        </p:nvSpPr>
        <p:spPr>
          <a:xfrm>
            <a:off x="8247888" y="5431536"/>
            <a:ext cx="3108960" cy="420624"/>
          </a:xfrm>
          <a:prstGeom prst="rect">
            <a:avLst/>
          </a:prstGeom>
          <a:noFill/>
          <a:ln/>
        </p:spPr>
        <p:txBody>
          <a:bodyPr wrap="square" lIns="0" tIns="0" rIns="0" bIns="0" rtlCol="0" anchor="ctr"/>
          <a:lstStyle/>
          <a:p>
            <a:pPr indent="0" marL="0">
              <a:buNone/>
            </a:pPr>
            <a:r>
              <a:rPr lang="en-US" sz="1300" dirty="0">
                <a:solidFill>
                  <a:srgbClr val="EEF0F5"/>
                </a:solidFill>
                <a:latin typeface="Segoe UI" pitchFamily="34" charset="0"/>
                <a:ea typeface="Segoe UI" pitchFamily="34" charset="-122"/>
                <a:cs typeface="Segoe UI" pitchFamily="34" charset="-120"/>
              </a:rPr>
              <a:t>An outage forces a replan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t"/>
          <a:lstStyle/>
          <a:p>
            <a:pPr indent="0" marL="0">
              <a:buNone/>
            </a:pPr>
            <a:r>
              <a:rPr lang="en-US" sz="1100" b="1" spc="300" kern="0" dirty="0">
                <a:solidFill>
                  <a:srgbClr val="B7ADFF"/>
                </a:solidFill>
                <a:latin typeface="Segoe UI" pitchFamily="34" charset="0"/>
                <a:ea typeface="Segoe UI" pitchFamily="34" charset="-122"/>
                <a:cs typeface="Segoe UI" pitchFamily="34" charset="-120"/>
              </a:rPr>
              <a:t>THE PRODUCT</a:t>
            </a:r>
            <a:endParaRPr lang="en-US" sz="1100" dirty="0"/>
          </a:p>
        </p:txBody>
      </p:sp>
      <p:sp>
        <p:nvSpPr>
          <p:cNvPr id="3" name="Text 1"/>
          <p:cNvSpPr txBox="1"/>
          <p:nvPr/>
        </p:nvSpPr>
        <p:spPr>
          <a:xfrm>
            <a:off x="640080" y="777240"/>
            <a:ext cx="10881360" cy="685800"/>
          </a:xfrm>
          <a:prstGeom prst="rect">
            <a:avLst/>
          </a:prstGeom>
          <a:noFill/>
          <a:ln/>
        </p:spPr>
        <p:txBody>
          <a:bodyPr wrap="square" lIns="0" tIns="0" rIns="0" bIns="0" rtlCol="0" anchor="t"/>
          <a:lstStyle/>
          <a:p>
            <a:pPr indent="0" marL="0">
              <a:buNone/>
            </a:pPr>
            <a:r>
              <a:rPr lang="en-US" sz="3200" b="1" dirty="0">
                <a:solidFill>
                  <a:srgbClr val="EEF0F5"/>
                </a:solidFill>
                <a:latin typeface="Segoe UI" pitchFamily="34" charset="0"/>
                <a:ea typeface="Segoe UI" pitchFamily="34" charset="-122"/>
                <a:cs typeface="Segoe UI" pitchFamily="34" charset="-120"/>
              </a:rPr>
              <a:t>One call: what you got → what you need</a:t>
            </a:r>
            <a:endParaRPr lang="en-US" sz="3200" dirty="0"/>
          </a:p>
        </p:txBody>
      </p:sp>
      <p:sp>
        <p:nvSpPr>
          <p:cNvPr id="4" name="Text 2"/>
          <p:cNvSpPr txBox="1"/>
          <p:nvPr/>
        </p:nvSpPr>
        <p:spPr>
          <a:xfrm>
            <a:off x="10634472" y="6400800"/>
            <a:ext cx="914400" cy="228600"/>
          </a:xfrm>
          <a:prstGeom prst="rect">
            <a:avLst/>
          </a:prstGeom>
          <a:noFill/>
          <a:ln/>
        </p:spPr>
        <p:txBody>
          <a:bodyPr wrap="square" lIns="0" tIns="0" rIns="0" bIns="0" rtlCol="0" anchor="t"/>
          <a:lstStyle/>
          <a:p>
            <a:pPr algn="r" indent="0" marL="0">
              <a:buNone/>
            </a:pPr>
            <a:r>
              <a:rPr lang="en-US" sz="1000" dirty="0">
                <a:solidFill>
                  <a:srgbClr val="6B7285"/>
                </a:solidFill>
                <a:latin typeface="Segoe UI" pitchFamily="34" charset="0"/>
                <a:ea typeface="Segoe UI" pitchFamily="34" charset="-122"/>
                <a:cs typeface="Segoe UI" pitchFamily="34" charset="-120"/>
              </a:rPr>
              <a:t>3 / 6</a:t>
            </a:r>
            <a:endParaRPr lang="en-US" sz="1000" dirty="0"/>
          </a:p>
        </p:txBody>
      </p:sp>
      <p:sp>
        <p:nvSpPr>
          <p:cNvPr id="5" name="Shape 3"/>
          <p:cNvSpPr/>
          <p:nvPr/>
        </p:nvSpPr>
        <p:spPr>
          <a:xfrm>
            <a:off x="640080" y="1737360"/>
            <a:ext cx="5577840" cy="1783080"/>
          </a:xfrm>
          <a:prstGeom prst="roundRect">
            <a:avLst>
              <a:gd name="adj" fmla="val 6154"/>
            </a:avLst>
          </a:prstGeom>
          <a:solidFill>
            <a:srgbClr val="151925"/>
          </a:solidFill>
          <a:ln w="9525">
            <a:solidFill>
              <a:srgbClr val="2A3042"/>
            </a:solidFill>
            <a:prstDash val="solid"/>
          </a:ln>
        </p:spPr>
      </p:sp>
      <p:sp>
        <p:nvSpPr>
          <p:cNvPr id="6" name="Text 4"/>
          <p:cNvSpPr txBox="1"/>
          <p:nvPr/>
        </p:nvSpPr>
        <p:spPr>
          <a:xfrm>
            <a:off x="914400" y="1920240"/>
            <a:ext cx="5029200" cy="274320"/>
          </a:xfrm>
          <a:prstGeom prst="rect">
            <a:avLst/>
          </a:prstGeom>
          <a:noFill/>
          <a:ln/>
        </p:spPr>
        <p:txBody>
          <a:bodyPr wrap="square" lIns="0" tIns="0" rIns="0" bIns="0" rtlCol="0" anchor="t"/>
          <a:lstStyle/>
          <a:p>
            <a:pPr indent="0" marL="0">
              <a:buNone/>
            </a:pPr>
            <a:r>
              <a:rPr lang="en-US" sz="1100" b="1" spc="200" kern="0" dirty="0">
                <a:solidFill>
                  <a:srgbClr val="B7ADFF"/>
                </a:solidFill>
                <a:latin typeface="Segoe UI" pitchFamily="34" charset="0"/>
                <a:ea typeface="Segoe UI" pitchFamily="34" charset="-122"/>
                <a:cs typeface="Segoe UI" pitchFamily="34" charset="-120"/>
              </a:rPr>
              <a:t>REQUEST  ·  POST /v1/adapt</a:t>
            </a:r>
            <a:endParaRPr lang="en-US" sz="1100" dirty="0"/>
          </a:p>
        </p:txBody>
      </p:sp>
      <p:sp>
        <p:nvSpPr>
          <p:cNvPr id="7" name="Text 5"/>
          <p:cNvSpPr txBox="1"/>
          <p:nvPr/>
        </p:nvSpPr>
        <p:spPr>
          <a:xfrm>
            <a:off x="914400" y="2286000"/>
            <a:ext cx="5120640" cy="1463040"/>
          </a:xfrm>
          <a:prstGeom prst="rect">
            <a:avLst/>
          </a:prstGeom>
          <a:noFill/>
          <a:ln/>
        </p:spPr>
        <p:txBody>
          <a:bodyPr wrap="square" lIns="0" tIns="0" rIns="0" bIns="0" rtlCol="0" anchor="t"/>
          <a:lstStyle/>
          <a:p>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"source": { "content_type": "text",</a:t>
            </a:r>
            <a:endParaRPr lang="en-US" sz="1200" dirty="0"/>
          </a:p>
          <a:p>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"data": "H100 SXM, 8x80 GB, starting at $24.80/hr" },</a:t>
            </a:r>
            <a:endParaRPr lang="en-US" sz="1200" dirty="0"/>
          </a:p>
          <a:p>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"target_schema": { …GpuOffer JSON Schema… },</a:t>
            </a:r>
            <a:endParaRPr lang="en-US" sz="1200" dirty="0"/>
          </a:p>
          <a:p>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"instructions": "The provider name is C." }</a:t>
            </a:r>
            <a:endParaRPr lang="en-US" sz="1200" dirty="0"/>
          </a:p>
        </p:txBody>
      </p:sp>
      <p:sp>
        <p:nvSpPr>
          <p:cNvPr id="8" name="Shape 6"/>
          <p:cNvSpPr/>
          <p:nvPr/>
        </p:nvSpPr>
        <p:spPr>
          <a:xfrm>
            <a:off x="640080" y="3749040"/>
            <a:ext cx="5577840" cy="2057400"/>
          </a:xfrm>
          <a:prstGeom prst="roundRect">
            <a:avLst>
              <a:gd name="adj" fmla="val 5333"/>
            </a:avLst>
          </a:prstGeom>
          <a:solidFill>
            <a:srgbClr val="151925"/>
          </a:solidFill>
          <a:ln w="9525">
            <a:solidFill>
              <a:srgbClr val="2A3042"/>
            </a:solidFill>
            <a:prstDash val="solid"/>
          </a:ln>
        </p:spPr>
      </p:sp>
      <p:sp>
        <p:nvSpPr>
          <p:cNvPr id="9" name="Text 7"/>
          <p:cNvSpPr txBox="1"/>
          <p:nvPr/>
        </p:nvSpPr>
        <p:spPr>
          <a:xfrm>
            <a:off x="914400" y="3931920"/>
            <a:ext cx="5029200" cy="274320"/>
          </a:xfrm>
          <a:prstGeom prst="rect">
            <a:avLst/>
          </a:prstGeom>
          <a:noFill/>
          <a:ln/>
        </p:spPr>
        <p:txBody>
          <a:bodyPr wrap="square" lIns="0" tIns="0" rIns="0" bIns="0" rtlCol="0" anchor="t"/>
          <a:lstStyle/>
          <a:p>
            <a:pPr indent="0" marL="0">
              <a:buNone/>
            </a:pPr>
            <a:r>
              <a:rPr lang="en-US" sz="1100" b="1" spc="200" kern="0" dirty="0">
                <a:solidFill>
                  <a:srgbClr val="34D399"/>
                </a:solidFill>
                <a:latin typeface="Segoe UI" pitchFamily="34" charset="0"/>
                <a:ea typeface="Segoe UI" pitchFamily="34" charset="-122"/>
                <a:cs typeface="Segoe UI" pitchFamily="34" charset="-120"/>
              </a:rPr>
              <a:t>RESPONSE  ·  200</a:t>
            </a:r>
            <a:endParaRPr lang="en-US" sz="1100" dirty="0"/>
          </a:p>
        </p:txBody>
      </p:sp>
      <p:sp>
        <p:nvSpPr>
          <p:cNvPr id="10" name="Text 8"/>
          <p:cNvSpPr txBox="1"/>
          <p:nvPr/>
        </p:nvSpPr>
        <p:spPr>
          <a:xfrm>
            <a:off x="914400" y="4297680"/>
            <a:ext cx="5120640" cy="1691640"/>
          </a:xfrm>
          <a:prstGeom prst="rect">
            <a:avLst/>
          </a:prstGeom>
          <a:noFill/>
          <a:ln/>
        </p:spPr>
        <p:txBody>
          <a:bodyPr wrap="square" lIns="0" tIns="0" rIns="0" bIns="0" rtlCol="0" anchor="t"/>
          <a:lstStyle/>
          <a:p>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"data": { "gpu": "H100 SXM", "gpu_count": 8,
</a:t>
            </a:r>
            <a:pPr indent="0" marL="0">
              <a:lnSpc>
                <a:spcPct val="120000"/>
              </a:lnSpc>
              <a:buNone/>
            </a:pPr>
            <a:r>
              <a:rPr lang="en-US" sz="1200" b="1" dirty="0">
                <a:solidFill>
                  <a:srgbClr val="34D399"/>
                </a:solidFill>
                <a:latin typeface="Consolas" pitchFamily="34" charset="0"/>
                <a:ea typeface="Consolas" pitchFamily="34" charset="-122"/>
                <a:cs typeface="Consolas" pitchFamily="34" charset="-120"/>
              </a:rPr>
              <a:t>    "price_per_gpu_hour_usd": 3.1,
</a:t>
            </a:r>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"price_type": "starting_at" },
</a:t>
            </a:r>
            <a:pPr indent="0" marL="0">
              <a:lnSpc>
                <a:spcPct val="120000"/>
              </a:lnSpc>
              <a:buNone/>
            </a:pPr>
            <a:r>
              <a:rPr lang="en-US" sz="1200" dirty="0">
                <a:solidFill>
                  <a:srgbClr val="A3AABB"/>
                </a:solidFill>
                <a:latin typeface="Consolas" pitchFamily="34" charset="0"/>
                <a:ea typeface="Consolas" pitchFamily="34" charset="-122"/>
                <a:cs typeface="Consolas" pitchFamily="34" charset="-120"/>
              </a:rPr>
              <a:t>  "valid": true,
</a:t>
            </a:r>
            <a:pPr indent="0" marL="0">
              <a:lnSpc>
                <a:spcPct val="120000"/>
              </a:lnSpc>
              <a:buNone/>
            </a:pPr>
            <a:r>
              <a:rPr lang="en-US" sz="1200" dirty="0">
                <a:solidFill>
                  <a:srgbClr val="F5B546"/>
                </a:solidFill>
                <a:latin typeface="Consolas" pitchFamily="34" charset="0"/>
                <a:ea typeface="Consolas" pitchFamily="34" charset="-122"/>
                <a:cs typeface="Consolas" pitchFamily="34" charset="-120"/>
              </a:rPr>
              <a:t>  "warnings": ["price is a lower bound, not a quote"] }</a:t>
            </a:r>
            <a:endParaRPr lang="en-US" sz="1200" dirty="0"/>
          </a:p>
        </p:txBody>
      </p:sp>
      <p:sp>
        <p:nvSpPr>
          <p:cNvPr id="11" name="Text 9"/>
          <p:cNvSpPr txBox="1"/>
          <p:nvPr/>
        </p:nvSpPr>
        <p:spPr>
          <a:xfrm>
            <a:off x="6583680" y="1783080"/>
            <a:ext cx="4937760" cy="274320"/>
          </a:xfrm>
          <a:prstGeom prst="rect">
            <a:avLst/>
          </a:prstGeom>
          <a:noFill/>
          <a:ln/>
        </p:spPr>
        <p:txBody>
          <a:bodyPr wrap="square" lIns="0" tIns="0" rIns="0" bIns="0" rtlCol="0" anchor="t"/>
          <a:lstStyle/>
          <a:p>
            <a:pPr indent="0" marL="0">
              <a:buNone/>
            </a:pPr>
            <a:r>
              <a:rPr lang="en-US" sz="1100" b="1" spc="200" kern="0" dirty="0">
                <a:solidFill>
                  <a:srgbClr val="6B7285"/>
                </a:solidFill>
                <a:latin typeface="Segoe UI" pitchFamily="34" charset="0"/>
                <a:ea typeface="Segoe UI" pitchFamily="34" charset="-122"/>
                <a:cs typeface="Segoe UI" pitchFamily="34" charset="-120"/>
              </a:rPr>
              <a:t>WHERE IT PLUGS INTO A LONG AGENT RUN</a:t>
            </a:r>
            <a:endParaRPr lang="en-US" sz="1100" dirty="0"/>
          </a:p>
        </p:txBody>
      </p:sp>
      <p:sp>
        <p:nvSpPr>
          <p:cNvPr id="12" name="Shape 10"/>
          <p:cNvSpPr/>
          <p:nvPr/>
        </p:nvSpPr>
        <p:spPr>
          <a:xfrm>
            <a:off x="6583680" y="2240280"/>
            <a:ext cx="603504" cy="603504"/>
          </a:xfrm>
          <a:prstGeom prst="roundRect">
            <a:avLst>
              <a:gd name="adj" fmla="val 15152"/>
            </a:avLst>
          </a:prstGeom>
          <a:solidFill>
            <a:srgbClr val="1C2130"/>
          </a:solidFill>
          <a:ln w="9525">
            <a:solidFill>
              <a:srgbClr val="2A3042"/>
            </a:solidFill>
            <a:prstDash val="solid"/>
          </a:ln>
        </p:spPr>
      </p:sp>
      <p:pic>
        <p:nvPicPr>
          <p:cNvPr id="13" name="Image 0" descr="preencoded.png">    </p:cNvPr>
          <p:cNvPicPr>
            <a:picLocks noChangeAspect="1"/>
          </p:cNvPicPr>
          <p:nvPr/>
        </p:nvPicPr>
        <p:blipFill>
          <a:blip r:embed="rId1"/>
          <a:stretch>
            <a:fillRect/>
          </a:stretch>
        </p:blipFill>
        <p:spPr>
          <a:xfrm>
            <a:off x="6728521" y="2385121"/>
            <a:ext cx="313822" cy="313822"/>
          </a:xfrm>
          <a:prstGeom prst="rect">
            <a:avLst/>
          </a:prstGeom>
        </p:spPr>
      </p:pic>
      <p:sp>
        <p:nvSpPr>
          <p:cNvPr id="14" name="Text 11"/>
          <p:cNvSpPr txBox="1"/>
          <p:nvPr/>
        </p:nvSpPr>
        <p:spPr>
          <a:xfrm>
            <a:off x="7406640" y="2221992"/>
            <a:ext cx="4114800" cy="329184"/>
          </a:xfrm>
          <a:prstGeom prst="rect">
            <a:avLst/>
          </a:prstGeom>
          <a:noFill/>
          <a:ln/>
        </p:spPr>
        <p:txBody>
          <a:bodyPr wrap="square" lIns="0" tIns="0" rIns="0" bIns="0" rtlCol="0" anchor="t"/>
          <a:lstStyle/>
          <a:p>
            <a:pPr indent="0" marL="0">
              <a:buNone/>
            </a:pPr>
            <a:r>
              <a:rPr lang="en-US" sz="1800" b="1" dirty="0">
                <a:solidFill>
                  <a:srgbClr val="EEF0F5"/>
                </a:solidFill>
                <a:latin typeface="Segoe UI" pitchFamily="34" charset="0"/>
                <a:ea typeface="Segoe UI" pitchFamily="34" charset="-122"/>
                <a:cs typeface="Segoe UI" pitchFamily="34" charset="-120"/>
              </a:rPr>
              <a:t>Fan-in</a:t>
            </a:r>
            <a:endParaRPr lang="en-US" sz="1800" dirty="0"/>
          </a:p>
        </p:txBody>
      </p:sp>
      <p:sp>
        <p:nvSpPr>
          <p:cNvPr id="15" name="Text 12"/>
          <p:cNvSpPr txBox="1"/>
          <p:nvPr/>
        </p:nvSpPr>
        <p:spPr>
          <a:xfrm>
            <a:off x="7406640" y="2569464"/>
            <a:ext cx="4114800" cy="640080"/>
          </a:xfrm>
          <a:prstGeom prst="rect">
            <a:avLst/>
          </a:prstGeom>
          <a:noFill/>
          <a:ln/>
        </p:spPr>
        <p:txBody>
          <a:bodyPr wrap="square" lIns="0" tIns="0" rIns="0" bIns="0" rtlCol="0" anchor="t"/>
          <a:lstStyle/>
          <a:p>
            <a:pPr indent="0" marL="0">
              <a:lnSpc>
                <a:spcPct val="110000"/>
              </a:lnSpc>
              <a:buNone/>
            </a:pPr>
            <a:r>
              <a:rPr lang="en-US" sz="1300" dirty="0">
                <a:solidFill>
                  <a:srgbClr val="A3AABB"/>
                </a:solidFill>
                <a:latin typeface="Segoe UI" pitchFamily="34" charset="0"/>
                <a:ea typeface="Segoe UI" pitchFamily="34" charset="-122"/>
                <a:cs typeface="Segoe UI" pitchFamily="34" charset="-120"/>
              </a:rPr>
              <a:t>Many sources, many shapes → one table the planner can compare.</a:t>
            </a:r>
            <a:endParaRPr lang="en-US" sz="1300" dirty="0"/>
          </a:p>
        </p:txBody>
      </p:sp>
      <p:sp>
        <p:nvSpPr>
          <p:cNvPr id="16" name="Shape 13"/>
          <p:cNvSpPr/>
          <p:nvPr/>
        </p:nvSpPr>
        <p:spPr>
          <a:xfrm>
            <a:off x="6583680" y="3429000"/>
            <a:ext cx="603504" cy="603504"/>
          </a:xfrm>
          <a:prstGeom prst="roundRect">
            <a:avLst>
              <a:gd name="adj" fmla="val 15152"/>
            </a:avLst>
          </a:prstGeom>
          <a:solidFill>
            <a:srgbClr val="1C2130"/>
          </a:solidFill>
          <a:ln w="9525">
            <a:solidFill>
              <a:srgbClr val="2A3042"/>
            </a:solidFill>
            <a:prstDash val="solid"/>
          </a:ln>
        </p:spPr>
      </p:sp>
      <p:pic>
        <p:nvPicPr>
          <p:cNvPr id="17" name="Image 1" descr="preencoded.png">    </p:cNvPr>
          <p:cNvPicPr>
            <a:picLocks noChangeAspect="1"/>
          </p:cNvPicPr>
          <p:nvPr/>
        </p:nvPicPr>
        <p:blipFill>
          <a:blip r:embed="rId2"/>
          <a:stretch>
            <a:fillRect/>
          </a:stretch>
        </p:blipFill>
        <p:spPr>
          <a:xfrm>
            <a:off x="6728521" y="3573841"/>
            <a:ext cx="313822" cy="313822"/>
          </a:xfrm>
          <a:prstGeom prst="rect">
            <a:avLst/>
          </a:prstGeom>
        </p:spPr>
      </p:pic>
      <p:sp>
        <p:nvSpPr>
          <p:cNvPr id="18" name="Text 14"/>
          <p:cNvSpPr txBox="1"/>
          <p:nvPr/>
        </p:nvSpPr>
        <p:spPr>
          <a:xfrm>
            <a:off x="7406640" y="3410712"/>
            <a:ext cx="4114800" cy="329184"/>
          </a:xfrm>
          <a:prstGeom prst="rect">
            <a:avLst/>
          </a:prstGeom>
          <a:noFill/>
          <a:ln/>
        </p:spPr>
        <p:txBody>
          <a:bodyPr wrap="square" lIns="0" tIns="0" rIns="0" bIns="0" rtlCol="0" anchor="t"/>
          <a:lstStyle/>
          <a:p>
            <a:pPr indent="0" marL="0">
              <a:buNone/>
            </a:pPr>
            <a:r>
              <a:rPr lang="en-US" sz="1800" b="1" dirty="0">
                <a:solidFill>
                  <a:srgbClr val="EEF0F5"/>
                </a:solidFill>
                <a:latin typeface="Segoe UI" pitchFamily="34" charset="0"/>
                <a:ea typeface="Segoe UI" pitchFamily="34" charset="-122"/>
                <a:cs typeface="Segoe UI" pitchFamily="34" charset="-120"/>
              </a:rPr>
              <a:t>Recovery</a:t>
            </a:r>
            <a:endParaRPr lang="en-US" sz="1800" dirty="0"/>
          </a:p>
        </p:txBody>
      </p:sp>
      <p:sp>
        <p:nvSpPr>
          <p:cNvPr id="19" name="Text 15"/>
          <p:cNvSpPr txBox="1"/>
          <p:nvPr/>
        </p:nvSpPr>
        <p:spPr>
          <a:xfrm>
            <a:off x="7406640" y="3758184"/>
            <a:ext cx="4114800" cy="640080"/>
          </a:xfrm>
          <a:prstGeom prst="rect">
            <a:avLst/>
          </a:prstGeom>
          <a:noFill/>
          <a:ln/>
        </p:spPr>
        <p:txBody>
          <a:bodyPr wrap="square" lIns="0" tIns="0" rIns="0" bIns="0" rtlCol="0" anchor="t"/>
          <a:lstStyle/>
          <a:p>
            <a:pPr indent="0" marL="0">
              <a:lnSpc>
                <a:spcPct val="110000"/>
              </a:lnSpc>
              <a:buNone/>
            </a:pPr>
            <a:r>
              <a:rPr lang="en-US" sz="1300" dirty="0">
                <a:solidFill>
                  <a:srgbClr val="A3AABB"/>
                </a:solidFill>
                <a:latin typeface="Segoe UI" pitchFamily="34" charset="0"/>
                <a:ea typeface="Segoe UI" pitchFamily="34" charset="-122"/>
                <a:cs typeface="Segoe UI" pitchFamily="34" charset="-120"/>
              </a:rPr>
              <a:t>API down? Send the fallback text with the same schema. The run continues, no replanning.</a:t>
            </a:r>
            <a:endParaRPr lang="en-US" sz="1300" dirty="0"/>
          </a:p>
        </p:txBody>
      </p:sp>
      <p:sp>
        <p:nvSpPr>
          <p:cNvPr id="20" name="Shape 16"/>
          <p:cNvSpPr/>
          <p:nvPr/>
        </p:nvSpPr>
        <p:spPr>
          <a:xfrm>
            <a:off x="6583680" y="4617720"/>
            <a:ext cx="603504" cy="603504"/>
          </a:xfrm>
          <a:prstGeom prst="roundRect">
            <a:avLst>
              <a:gd name="adj" fmla="val 15152"/>
            </a:avLst>
          </a:prstGeom>
          <a:solidFill>
            <a:srgbClr val="1C2130"/>
          </a:solidFill>
          <a:ln w="9525">
            <a:solidFill>
              <a:srgbClr val="2A3042"/>
            </a:solidFill>
            <a:prstDash val="solid"/>
          </a:ln>
        </p:spPr>
      </p:sp>
      <p:pic>
        <p:nvPicPr>
          <p:cNvPr id="21" name="Image 2" descr="preencoded.png">    </p:cNvPr>
          <p:cNvPicPr>
            <a:picLocks noChangeAspect="1"/>
          </p:cNvPicPr>
          <p:nvPr/>
        </p:nvPicPr>
        <p:blipFill>
          <a:blip r:embed="rId3"/>
          <a:stretch>
            <a:fillRect/>
          </a:stretch>
        </p:blipFill>
        <p:spPr>
          <a:xfrm>
            <a:off x="6728521" y="4762561"/>
            <a:ext cx="313822" cy="313822"/>
          </a:xfrm>
          <a:prstGeom prst="rect">
            <a:avLst/>
          </a:prstGeom>
        </p:spPr>
      </p:pic>
      <p:sp>
        <p:nvSpPr>
          <p:cNvPr id="22" name="Text 17"/>
          <p:cNvSpPr txBox="1"/>
          <p:nvPr/>
        </p:nvSpPr>
        <p:spPr>
          <a:xfrm>
            <a:off x="7406640" y="4599432"/>
            <a:ext cx="4114800" cy="329184"/>
          </a:xfrm>
          <a:prstGeom prst="rect">
            <a:avLst/>
          </a:prstGeom>
          <a:noFill/>
          <a:ln/>
        </p:spPr>
        <p:txBody>
          <a:bodyPr wrap="square" lIns="0" tIns="0" rIns="0" bIns="0" rtlCol="0" anchor="t"/>
          <a:lstStyle/>
          <a:p>
            <a:pPr indent="0" marL="0">
              <a:buNone/>
            </a:pPr>
            <a:r>
              <a:rPr lang="en-US" sz="1800" b="1" dirty="0">
                <a:solidFill>
                  <a:srgbClr val="EEF0F5"/>
                </a:solidFill>
                <a:latin typeface="Segoe UI" pitchFamily="34" charset="0"/>
                <a:ea typeface="Segoe UI" pitchFamily="34" charset="-122"/>
                <a:cs typeface="Segoe UI" pitchFamily="34" charset="-120"/>
              </a:rPr>
              <a:t>Handoff</a:t>
            </a:r>
            <a:endParaRPr lang="en-US" sz="1800" dirty="0"/>
          </a:p>
        </p:txBody>
      </p:sp>
      <p:sp>
        <p:nvSpPr>
          <p:cNvPr id="23" name="Text 18"/>
          <p:cNvSpPr txBox="1"/>
          <p:nvPr/>
        </p:nvSpPr>
        <p:spPr>
          <a:xfrm>
            <a:off x="7406640" y="4946904"/>
            <a:ext cx="4114800" cy="640080"/>
          </a:xfrm>
          <a:prstGeom prst="rect">
            <a:avLst/>
          </a:prstGeom>
          <a:noFill/>
          <a:ln/>
        </p:spPr>
        <p:txBody>
          <a:bodyPr wrap="square" lIns="0" tIns="0" rIns="0" bIns="0" rtlCol="0" anchor="t"/>
          <a:lstStyle/>
          <a:p>
            <a:pPr indent="0" marL="0">
              <a:lnSpc>
                <a:spcPct val="110000"/>
              </a:lnSpc>
              <a:buNone/>
            </a:pPr>
            <a:r>
              <a:rPr lang="en-US" sz="1300" dirty="0">
                <a:solidFill>
                  <a:srgbClr val="A3AABB"/>
                </a:solidFill>
                <a:latin typeface="Segoe UI" pitchFamily="34" charset="0"/>
                <a:ea typeface="Segoe UI" pitchFamily="34" charset="-122"/>
                <a:cs typeface="Segoe UI" pitchFamily="34" charset="-120"/>
              </a:rPr>
              <a:t>One tool's output must validate as the next tool's input.</a:t>
            </a:r>
            <a:endParaRPr lang="en-US" sz="1300" dirty="0"/>
          </a:p>
        </p:txBody>
      </p:sp>
      <p:sp>
        <p:nvSpPr>
          <p:cNvPr id="24" name="Text 19"/>
          <p:cNvSpPr txBox="1"/>
          <p:nvPr/>
        </p:nvSpPr>
        <p:spPr>
          <a:xfrm>
            <a:off x="6583680" y="5760720"/>
            <a:ext cx="4937760" cy="320040"/>
          </a:xfrm>
          <a:prstGeom prst="rect">
            <a:avLst/>
          </a:prstGeom>
          <a:noFill/>
          <a:ln/>
        </p:spPr>
        <p:txBody>
          <a:bodyPr wrap="square" lIns="0" tIns="0" rIns="0" bIns="0" rtlCol="0" anchor="t"/>
          <a:lstStyle/>
          <a:p>
            <a:pPr indent="0" marL="0">
              <a:buNone/>
            </a:pPr>
            <a:r>
              <a:rPr lang="en-US" sz="1500" i="1" dirty="0">
                <a:solidFill>
                  <a:srgbClr val="B7ADFF"/>
                </a:solidFill>
                <a:latin typeface="Segoe UI" pitchFamily="34" charset="0"/>
                <a:ea typeface="Segoe UI" pitchFamily="34" charset="-122"/>
                <a:cs typeface="Segoe UI" pitchFamily="34" charset="-120"/>
              </a:rPr>
              <a:t>Any payload · any schema · nothing GPU-specific</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t"/>
          <a:lstStyle/>
          <a:p>
            <a:pPr indent="0" marL="0">
              <a:buNone/>
            </a:pPr>
            <a:r>
              <a:rPr lang="en-US" sz="1100" b="1" spc="300" kern="0" dirty="0">
                <a:solidFill>
                  <a:srgbClr val="B7ADFF"/>
                </a:solidFill>
                <a:latin typeface="Segoe UI" pitchFamily="34" charset="0"/>
                <a:ea typeface="Segoe UI" pitchFamily="34" charset="-122"/>
                <a:cs typeface="Segoe UI" pitchFamily="34" charset="-120"/>
              </a:rPr>
              <a:t>ARCHITECTURE</a:t>
            </a:r>
            <a:endParaRPr lang="en-US" sz="1100" dirty="0"/>
          </a:p>
        </p:txBody>
      </p:sp>
      <p:sp>
        <p:nvSpPr>
          <p:cNvPr id="3" name="Text 1"/>
          <p:cNvSpPr txBox="1"/>
          <p:nvPr/>
        </p:nvSpPr>
        <p:spPr>
          <a:xfrm>
            <a:off x="640080" y="777240"/>
            <a:ext cx="10881360" cy="685800"/>
          </a:xfrm>
          <a:prstGeom prst="rect">
            <a:avLst/>
          </a:prstGeom>
          <a:noFill/>
          <a:ln/>
        </p:spPr>
        <p:txBody>
          <a:bodyPr wrap="square" lIns="0" tIns="0" rIns="0" bIns="0" rtlCol="0" anchor="t"/>
          <a:lstStyle/>
          <a:p>
            <a:pPr indent="0" marL="0">
              <a:buNone/>
            </a:pPr>
            <a:r>
              <a:rPr lang="en-US" sz="3200" b="1" dirty="0">
                <a:solidFill>
                  <a:srgbClr val="EEF0F5"/>
                </a:solidFill>
                <a:latin typeface="Segoe UI" pitchFamily="34" charset="0"/>
                <a:ea typeface="Segoe UI" pitchFamily="34" charset="-122"/>
                <a:cs typeface="Segoe UI" pitchFamily="34" charset="-120"/>
              </a:rPr>
              <a:t>Payment at the edge, math in code</a:t>
            </a:r>
            <a:endParaRPr lang="en-US" sz="3200" dirty="0"/>
          </a:p>
        </p:txBody>
      </p:sp>
      <p:sp>
        <p:nvSpPr>
          <p:cNvPr id="4" name="Text 2"/>
          <p:cNvSpPr txBox="1"/>
          <p:nvPr/>
        </p:nvSpPr>
        <p:spPr>
          <a:xfrm>
            <a:off x="10634472" y="6400800"/>
            <a:ext cx="914400" cy="228600"/>
          </a:xfrm>
          <a:prstGeom prst="rect">
            <a:avLst/>
          </a:prstGeom>
          <a:noFill/>
          <a:ln/>
        </p:spPr>
        <p:txBody>
          <a:bodyPr wrap="square" lIns="0" tIns="0" rIns="0" bIns="0" rtlCol="0" anchor="t"/>
          <a:lstStyle/>
          <a:p>
            <a:pPr algn="r" indent="0" marL="0">
              <a:buNone/>
            </a:pPr>
            <a:r>
              <a:rPr lang="en-US" sz="1000" dirty="0">
                <a:solidFill>
                  <a:srgbClr val="6B7285"/>
                </a:solidFill>
                <a:latin typeface="Segoe UI" pitchFamily="34" charset="0"/>
                <a:ea typeface="Segoe UI" pitchFamily="34" charset="-122"/>
                <a:cs typeface="Segoe UI" pitchFamily="34" charset="-120"/>
              </a:rPr>
              <a:t>4 / 6</a:t>
            </a:r>
            <a:endParaRPr lang="en-US" sz="1000" dirty="0"/>
          </a:p>
        </p:txBody>
      </p:sp>
      <p:sp>
        <p:nvSpPr>
          <p:cNvPr id="5" name="Shape 3"/>
          <p:cNvSpPr/>
          <p:nvPr/>
        </p:nvSpPr>
        <p:spPr>
          <a:xfrm>
            <a:off x="640080" y="1691640"/>
            <a:ext cx="2240280" cy="1417320"/>
          </a:xfrm>
          <a:prstGeom prst="roundRect">
            <a:avLst>
              <a:gd name="adj" fmla="val 7742"/>
            </a:avLst>
          </a:prstGeom>
          <a:solidFill>
            <a:srgbClr val="151925"/>
          </a:solidFill>
          <a:ln w="9525">
            <a:solidFill>
              <a:srgbClr val="2A3042"/>
            </a:solidFill>
            <a:prstDash val="solid"/>
          </a:ln>
        </p:spPr>
      </p:sp>
      <p:sp>
        <p:nvSpPr>
          <p:cNvPr id="6" name="Shape 4"/>
          <p:cNvSpPr/>
          <p:nvPr/>
        </p:nvSpPr>
        <p:spPr>
          <a:xfrm>
            <a:off x="822960" y="1874520"/>
            <a:ext cx="457200" cy="457200"/>
          </a:xfrm>
          <a:prstGeom prst="roundRect">
            <a:avLst>
              <a:gd name="adj" fmla="val 20000"/>
            </a:avLst>
          </a:prstGeom>
          <a:solidFill>
            <a:srgbClr val="1C2130"/>
          </a:solidFill>
          <a:ln w="9525">
            <a:solidFill>
              <a:srgbClr val="2A3042"/>
            </a:solidFill>
            <a:prstDash val="solid"/>
          </a:ln>
        </p:spPr>
      </p:sp>
      <p:pic>
        <p:nvPicPr>
          <p:cNvPr id="7" name="Image 0" descr="preencoded.png">    </p:cNvPr>
          <p:cNvPicPr>
            <a:picLocks noChangeAspect="1"/>
          </p:cNvPicPr>
          <p:nvPr/>
        </p:nvPicPr>
        <p:blipFill>
          <a:blip r:embed="rId1"/>
          <a:stretch>
            <a:fillRect/>
          </a:stretch>
        </p:blipFill>
        <p:spPr>
          <a:xfrm>
            <a:off x="932688" y="1984248"/>
            <a:ext cx="237744" cy="237744"/>
          </a:xfrm>
          <a:prstGeom prst="rect">
            <a:avLst/>
          </a:prstGeom>
        </p:spPr>
      </p:pic>
      <p:sp>
        <p:nvSpPr>
          <p:cNvPr id="8" name="Text 5"/>
          <p:cNvSpPr txBox="1"/>
          <p:nvPr/>
        </p:nvSpPr>
        <p:spPr>
          <a:xfrm>
            <a:off x="1417320" y="1920240"/>
            <a:ext cx="1417320" cy="365760"/>
          </a:xfrm>
          <a:prstGeom prst="rect">
            <a:avLst/>
          </a:prstGeom>
          <a:noFill/>
          <a:ln/>
        </p:spPr>
        <p:txBody>
          <a:bodyPr wrap="square" lIns="0" tIns="0" rIns="0" bIns="0" rtlCol="0" anchor="ctr"/>
          <a:lstStyle/>
          <a:p>
            <a:pPr indent="0" marL="0">
              <a:buNone/>
            </a:pPr>
            <a:r>
              <a:rPr lang="en-US" sz="1400" b="1" dirty="0">
                <a:solidFill>
                  <a:srgbClr val="EEF0F5"/>
                </a:solidFill>
                <a:latin typeface="Segoe UI" pitchFamily="34" charset="0"/>
                <a:ea typeface="Segoe UI" pitchFamily="34" charset="-122"/>
                <a:cs typeface="Segoe UI" pitchFamily="34" charset="-120"/>
              </a:rPr>
              <a:t>Agent</a:t>
            </a:r>
            <a:endParaRPr lang="en-US" sz="1400" dirty="0"/>
          </a:p>
        </p:txBody>
      </p:sp>
      <p:sp>
        <p:nvSpPr>
          <p:cNvPr id="9" name="Text 6"/>
          <p:cNvSpPr txBox="1"/>
          <p:nvPr/>
        </p:nvSpPr>
        <p:spPr>
          <a:xfrm>
            <a:off x="822960" y="2450592"/>
            <a:ext cx="1965960" cy="566928"/>
          </a:xfrm>
          <a:prstGeom prst="rect">
            <a:avLst/>
          </a:prstGeom>
          <a:noFill/>
          <a:ln/>
        </p:spPr>
        <p:txBody>
          <a:bodyPr wrap="square" lIns="0" tIns="0" rIns="0" bIns="0" rtlCol="0" anchor="t"/>
          <a:lstStyle/>
          <a:p>
            <a:pPr indent="0" marL="0">
              <a:buNone/>
            </a:pPr>
            <a:r>
              <a:rPr lang="en-US" sz="1150" dirty="0">
                <a:solidFill>
                  <a:srgbClr val="A3AABB"/>
                </a:solidFill>
                <a:latin typeface="Segoe UI" pitchFamily="34" charset="0"/>
                <a:ea typeface="Segoe UI" pitchFamily="34" charset="-122"/>
                <a:cs typeface="Segoe UI" pitchFamily="34" charset="-120"/>
              </a:rPr>
              <a:t>Fetches data, pays with the</a:t>
            </a:r>
            <a:endParaRPr lang="en-US" sz="1150" dirty="0"/>
          </a:p>
          <a:p>
            <a:pPr indent="0" marL="0">
              <a:buNone/>
            </a:pPr>
            <a:r>
              <a:rPr lang="en-US" sz="1150" dirty="0">
                <a:solidFill>
                  <a:srgbClr val="A3AABB"/>
                </a:solidFill>
                <a:latin typeface="Segoe UI" pitchFamily="34" charset="0"/>
                <a:ea typeface="Segoe UI" pitchFamily="34" charset="-122"/>
                <a:cs typeface="Segoe UI" pitchFamily="34" charset="-120"/>
              </a:rPr>
              <a:t>pay CLI, plans</a:t>
            </a:r>
            <a:endParaRPr lang="en-US" sz="1150" dirty="0"/>
          </a:p>
        </p:txBody>
      </p:sp>
      <p:sp>
        <p:nvSpPr>
          <p:cNvPr id="10" name="Shape 7"/>
          <p:cNvSpPr/>
          <p:nvPr/>
        </p:nvSpPr>
        <p:spPr>
          <a:xfrm>
            <a:off x="2926080" y="2395728"/>
            <a:ext cx="548640" cy="0"/>
          </a:xfrm>
          <a:prstGeom prst="line">
            <a:avLst/>
          </a:prstGeom>
          <a:noFill/>
          <a:ln w="19050">
            <a:solidFill>
              <a:srgbClr val="6B7285"/>
            </a:solidFill>
            <a:prstDash val="solid"/>
            <a:headEnd type="triangle"/>
            <a:tailEnd type="triangle"/>
          </a:ln>
        </p:spPr>
      </p:sp>
      <p:sp>
        <p:nvSpPr>
          <p:cNvPr id="11" name="Shape 8"/>
          <p:cNvSpPr/>
          <p:nvPr/>
        </p:nvSpPr>
        <p:spPr>
          <a:xfrm>
            <a:off x="3520440" y="1691640"/>
            <a:ext cx="2240280" cy="1417320"/>
          </a:xfrm>
          <a:prstGeom prst="roundRect">
            <a:avLst>
              <a:gd name="adj" fmla="val 7742"/>
            </a:avLst>
          </a:prstGeom>
          <a:solidFill>
            <a:srgbClr val="151925"/>
          </a:solidFill>
          <a:ln w="9525">
            <a:solidFill>
              <a:srgbClr val="2A3042"/>
            </a:solidFill>
            <a:prstDash val="solid"/>
          </a:ln>
        </p:spPr>
      </p:sp>
      <p:sp>
        <p:nvSpPr>
          <p:cNvPr id="12" name="Shape 9"/>
          <p:cNvSpPr/>
          <p:nvPr/>
        </p:nvSpPr>
        <p:spPr>
          <a:xfrm>
            <a:off x="3703320" y="1874520"/>
            <a:ext cx="457200" cy="457200"/>
          </a:xfrm>
          <a:prstGeom prst="roundRect">
            <a:avLst>
              <a:gd name="adj" fmla="val 20000"/>
            </a:avLst>
          </a:prstGeom>
          <a:solidFill>
            <a:srgbClr val="1C2130"/>
          </a:solidFill>
          <a:ln w="9525">
            <a:solidFill>
              <a:srgbClr val="2A3042"/>
            </a:solidFill>
            <a:prstDash val="solid"/>
          </a:ln>
        </p:spPr>
      </p:sp>
      <p:pic>
        <p:nvPicPr>
          <p:cNvPr id="13" name="Image 1" descr="preencoded.png">    </p:cNvPr>
          <p:cNvPicPr>
            <a:picLocks noChangeAspect="1"/>
          </p:cNvPicPr>
          <p:nvPr/>
        </p:nvPicPr>
        <p:blipFill>
          <a:blip r:embed="rId2"/>
          <a:stretch>
            <a:fillRect/>
          </a:stretch>
        </p:blipFill>
        <p:spPr>
          <a:xfrm>
            <a:off x="3813048" y="1984248"/>
            <a:ext cx="237744" cy="237744"/>
          </a:xfrm>
          <a:prstGeom prst="rect">
            <a:avLst/>
          </a:prstGeom>
        </p:spPr>
      </p:pic>
      <p:sp>
        <p:nvSpPr>
          <p:cNvPr id="14" name="Text 10"/>
          <p:cNvSpPr txBox="1"/>
          <p:nvPr/>
        </p:nvSpPr>
        <p:spPr>
          <a:xfrm>
            <a:off x="4297680" y="1920240"/>
            <a:ext cx="1417320" cy="365760"/>
          </a:xfrm>
          <a:prstGeom prst="rect">
            <a:avLst/>
          </a:prstGeom>
          <a:noFill/>
          <a:ln/>
        </p:spPr>
        <p:txBody>
          <a:bodyPr wrap="square" lIns="0" tIns="0" rIns="0" bIns="0" rtlCol="0" anchor="ctr"/>
          <a:lstStyle/>
          <a:p>
            <a:pPr indent="0" marL="0">
              <a:buNone/>
            </a:pPr>
            <a:r>
              <a:rPr lang="en-US" sz="1400" b="1" dirty="0">
                <a:solidFill>
                  <a:srgbClr val="EEF0F5"/>
                </a:solidFill>
                <a:latin typeface="Segoe UI" pitchFamily="34" charset="0"/>
                <a:ea typeface="Segoe UI" pitchFamily="34" charset="-122"/>
                <a:cs typeface="Segoe UI" pitchFamily="34" charset="-120"/>
              </a:rPr>
              <a:t>Pay.sh gateway</a:t>
            </a:r>
            <a:endParaRPr lang="en-US" sz="1400" dirty="0"/>
          </a:p>
        </p:txBody>
      </p:sp>
      <p:sp>
        <p:nvSpPr>
          <p:cNvPr id="15" name="Text 11"/>
          <p:cNvSpPr txBox="1"/>
          <p:nvPr/>
        </p:nvSpPr>
        <p:spPr>
          <a:xfrm>
            <a:off x="3703320" y="2450592"/>
            <a:ext cx="1965960" cy="566928"/>
          </a:xfrm>
          <a:prstGeom prst="rect">
            <a:avLst/>
          </a:prstGeom>
          <a:noFill/>
          <a:ln/>
        </p:spPr>
        <p:txBody>
          <a:bodyPr wrap="square" lIns="0" tIns="0" rIns="0" bIns="0" rtlCol="0" anchor="t"/>
          <a:lstStyle/>
          <a:p>
            <a:pPr indent="0" marL="0">
              <a:buNone/>
            </a:pPr>
            <a:r>
              <a:rPr lang="en-US" sz="1150" dirty="0">
                <a:solidFill>
                  <a:srgbClr val="A3AABB"/>
                </a:solidFill>
                <a:latin typeface="Segoe UI" pitchFamily="34" charset="0"/>
                <a:ea typeface="Segoe UI" pitchFamily="34" charset="-122"/>
                <a:cs typeface="Segoe UI" pitchFamily="34" charset="-120"/>
              </a:rPr>
              <a:t>402 challenge · verifies</a:t>
            </a:r>
            <a:endParaRPr lang="en-US" sz="1150" dirty="0"/>
          </a:p>
          <a:p>
            <a:pPr indent="0" marL="0">
              <a:buNone/>
            </a:pPr>
            <a:r>
              <a:rPr lang="en-US" sz="1150" dirty="0">
                <a:solidFill>
                  <a:srgbClr val="A3AABB"/>
                </a:solidFill>
                <a:latin typeface="Segoe UI" pitchFamily="34" charset="0"/>
                <a:ea typeface="Segoe UI" pitchFamily="34" charset="-122"/>
                <a:cs typeface="Segoe UI" pitchFamily="34" charset="-120"/>
              </a:rPr>
              <a:t>USDC · forwards</a:t>
            </a:r>
            <a:endParaRPr lang="en-US" sz="1150" dirty="0"/>
          </a:p>
        </p:txBody>
      </p:sp>
      <p:sp>
        <p:nvSpPr>
          <p:cNvPr id="16" name="Shape 12"/>
          <p:cNvSpPr/>
          <p:nvPr/>
        </p:nvSpPr>
        <p:spPr>
          <a:xfrm>
            <a:off x="5806440" y="2395728"/>
            <a:ext cx="548640" cy="0"/>
          </a:xfrm>
          <a:prstGeom prst="line">
            <a:avLst/>
          </a:prstGeom>
          <a:noFill/>
          <a:ln w="19050">
            <a:solidFill>
              <a:srgbClr val="6B7285"/>
            </a:solidFill>
            <a:prstDash val="solid"/>
            <a:headEnd type="triangle"/>
            <a:tailEnd type="triangle"/>
          </a:ln>
        </p:spPr>
      </p:sp>
      <p:sp>
        <p:nvSpPr>
          <p:cNvPr id="17" name="Shape 13"/>
          <p:cNvSpPr/>
          <p:nvPr/>
        </p:nvSpPr>
        <p:spPr>
          <a:xfrm>
            <a:off x="6400800" y="1691640"/>
            <a:ext cx="2240280" cy="1417320"/>
          </a:xfrm>
          <a:prstGeom prst="roundRect">
            <a:avLst>
              <a:gd name="adj" fmla="val 7742"/>
            </a:avLst>
          </a:prstGeom>
          <a:solidFill>
            <a:srgbClr val="151925"/>
          </a:solidFill>
          <a:ln w="9525">
            <a:solidFill>
              <a:srgbClr val="5B4FC0"/>
            </a:solidFill>
            <a:prstDash val="solid"/>
          </a:ln>
        </p:spPr>
      </p:sp>
      <p:sp>
        <p:nvSpPr>
          <p:cNvPr id="18" name="Shape 14"/>
          <p:cNvSpPr/>
          <p:nvPr/>
        </p:nvSpPr>
        <p:spPr>
          <a:xfrm>
            <a:off x="6583680" y="1874520"/>
            <a:ext cx="457200" cy="457200"/>
          </a:xfrm>
          <a:prstGeom prst="roundRect">
            <a:avLst>
              <a:gd name="adj" fmla="val 20000"/>
            </a:avLst>
          </a:prstGeom>
          <a:solidFill>
            <a:srgbClr val="1C2130"/>
          </a:solidFill>
          <a:ln w="9525">
            <a:solidFill>
              <a:srgbClr val="2A3042"/>
            </a:solidFill>
            <a:prstDash val="solid"/>
          </a:ln>
        </p:spPr>
      </p:sp>
      <p:pic>
        <p:nvPicPr>
          <p:cNvPr id="19" name="Image 2" descr="preencoded.png">    </p:cNvPr>
          <p:cNvPicPr>
            <a:picLocks noChangeAspect="1"/>
          </p:cNvPicPr>
          <p:nvPr/>
        </p:nvPicPr>
        <p:blipFill>
          <a:blip r:embed="rId3"/>
          <a:stretch>
            <a:fillRect/>
          </a:stretch>
        </p:blipFill>
        <p:spPr>
          <a:xfrm>
            <a:off x="6693408" y="1984248"/>
            <a:ext cx="237744" cy="237744"/>
          </a:xfrm>
          <a:prstGeom prst="rect">
            <a:avLst/>
          </a:prstGeom>
        </p:spPr>
      </p:pic>
      <p:sp>
        <p:nvSpPr>
          <p:cNvPr id="20" name="Text 15"/>
          <p:cNvSpPr txBox="1"/>
          <p:nvPr/>
        </p:nvSpPr>
        <p:spPr>
          <a:xfrm>
            <a:off x="7178040" y="1920240"/>
            <a:ext cx="1417320" cy="365760"/>
          </a:xfrm>
          <a:prstGeom prst="rect">
            <a:avLst/>
          </a:prstGeom>
          <a:noFill/>
          <a:ln/>
        </p:spPr>
        <p:txBody>
          <a:bodyPr wrap="square" lIns="0" tIns="0" rIns="0" bIns="0" rtlCol="0" anchor="ctr"/>
          <a:lstStyle/>
          <a:p>
            <a:pPr indent="0" marL="0">
              <a:buNone/>
            </a:pPr>
            <a:r>
              <a:rPr lang="en-US" sz="1400" b="1" dirty="0">
                <a:solidFill>
                  <a:srgbClr val="EEF0F5"/>
                </a:solidFill>
                <a:latin typeface="Segoe UI" pitchFamily="34" charset="0"/>
                <a:ea typeface="Segoe UI" pitchFamily="34" charset="-122"/>
                <a:cs typeface="Segoe UI" pitchFamily="34" charset="-120"/>
              </a:rPr>
              <a:t>Data Plumber</a:t>
            </a:r>
            <a:endParaRPr lang="en-US" sz="1400" dirty="0"/>
          </a:p>
        </p:txBody>
      </p:sp>
      <p:sp>
        <p:nvSpPr>
          <p:cNvPr id="21" name="Text 16"/>
          <p:cNvSpPr txBox="1"/>
          <p:nvPr/>
        </p:nvSpPr>
        <p:spPr>
          <a:xfrm>
            <a:off x="6583680" y="2450592"/>
            <a:ext cx="1965960" cy="566928"/>
          </a:xfrm>
          <a:prstGeom prst="rect">
            <a:avLst/>
          </a:prstGeom>
          <a:noFill/>
          <a:ln/>
        </p:spPr>
        <p:txBody>
          <a:bodyPr wrap="square" lIns="0" tIns="0" rIns="0" bIns="0" rtlCol="0" anchor="t"/>
          <a:lstStyle/>
          <a:p>
            <a:pPr indent="0" marL="0">
              <a:buNone/>
            </a:pPr>
            <a:r>
              <a:rPr lang="en-US" sz="1150" dirty="0">
                <a:solidFill>
                  <a:srgbClr val="A3AABB"/>
                </a:solidFill>
                <a:latin typeface="Segoe UI" pitchFamily="34" charset="0"/>
                <a:ea typeface="Segoe UI" pitchFamily="34" charset="-122"/>
                <a:cs typeface="Segoe UI" pitchFamily="34" charset="-120"/>
              </a:rPr>
              <a:t>The API: reshapes, validates.</a:t>
            </a:r>
            <a:endParaRPr lang="en-US" sz="1150" dirty="0"/>
          </a:p>
          <a:p>
            <a:pPr indent="0" marL="0">
              <a:buNone/>
            </a:pPr>
            <a:r>
              <a:rPr lang="en-US" sz="1150" dirty="0">
                <a:solidFill>
                  <a:srgbClr val="A3AABB"/>
                </a:solidFill>
                <a:latin typeface="Segoe UI" pitchFamily="34" charset="0"/>
                <a:ea typeface="Segoe UI" pitchFamily="34" charset="-122"/>
                <a:cs typeface="Segoe UI" pitchFamily="34" charset="-120"/>
              </a:rPr>
              <a:t>No payment code.</a:t>
            </a:r>
            <a:endParaRPr lang="en-US" sz="1150" dirty="0"/>
          </a:p>
        </p:txBody>
      </p:sp>
      <p:sp>
        <p:nvSpPr>
          <p:cNvPr id="22" name="Shape 17"/>
          <p:cNvSpPr/>
          <p:nvPr/>
        </p:nvSpPr>
        <p:spPr>
          <a:xfrm>
            <a:off x="8686800" y="2395728"/>
            <a:ext cx="548640" cy="0"/>
          </a:xfrm>
          <a:prstGeom prst="line">
            <a:avLst/>
          </a:prstGeom>
          <a:noFill/>
          <a:ln w="19050">
            <a:solidFill>
              <a:srgbClr val="6B7285"/>
            </a:solidFill>
            <a:prstDash val="solid"/>
            <a:headEnd type="triangle"/>
            <a:tailEnd type="triangle"/>
          </a:ln>
        </p:spPr>
      </p:sp>
      <p:sp>
        <p:nvSpPr>
          <p:cNvPr id="23" name="Shape 18"/>
          <p:cNvSpPr/>
          <p:nvPr/>
        </p:nvSpPr>
        <p:spPr>
          <a:xfrm>
            <a:off x="9281160" y="1691640"/>
            <a:ext cx="2240280" cy="1417320"/>
          </a:xfrm>
          <a:prstGeom prst="roundRect">
            <a:avLst>
              <a:gd name="adj" fmla="val 7742"/>
            </a:avLst>
          </a:prstGeom>
          <a:solidFill>
            <a:srgbClr val="151925"/>
          </a:solidFill>
          <a:ln w="9525">
            <a:solidFill>
              <a:srgbClr val="2A3042"/>
            </a:solidFill>
            <a:prstDash val="solid"/>
          </a:ln>
        </p:spPr>
      </p:sp>
      <p:sp>
        <p:nvSpPr>
          <p:cNvPr id="24" name="Shape 19"/>
          <p:cNvSpPr/>
          <p:nvPr/>
        </p:nvSpPr>
        <p:spPr>
          <a:xfrm>
            <a:off x="9464040" y="1874520"/>
            <a:ext cx="457200" cy="457200"/>
          </a:xfrm>
          <a:prstGeom prst="roundRect">
            <a:avLst>
              <a:gd name="adj" fmla="val 20000"/>
            </a:avLst>
          </a:prstGeom>
          <a:solidFill>
            <a:srgbClr val="1C2130"/>
          </a:solidFill>
          <a:ln w="9525">
            <a:solidFill>
              <a:srgbClr val="2A3042"/>
            </a:solidFill>
            <a:prstDash val="solid"/>
          </a:ln>
        </p:spPr>
      </p:sp>
      <p:pic>
        <p:nvPicPr>
          <p:cNvPr id="25" name="Image 3" descr="preencoded.png">    </p:cNvPr>
          <p:cNvPicPr>
            <a:picLocks noChangeAspect="1"/>
          </p:cNvPicPr>
          <p:nvPr/>
        </p:nvPicPr>
        <p:blipFill>
          <a:blip r:embed="rId4"/>
          <a:stretch>
            <a:fillRect/>
          </a:stretch>
        </p:blipFill>
        <p:spPr>
          <a:xfrm>
            <a:off x="9573768" y="1984248"/>
            <a:ext cx="237744" cy="237744"/>
          </a:xfrm>
          <a:prstGeom prst="rect">
            <a:avLst/>
          </a:prstGeom>
        </p:spPr>
      </p:pic>
      <p:sp>
        <p:nvSpPr>
          <p:cNvPr id="26" name="Text 20"/>
          <p:cNvSpPr txBox="1"/>
          <p:nvPr/>
        </p:nvSpPr>
        <p:spPr>
          <a:xfrm>
            <a:off x="10058400" y="1920240"/>
            <a:ext cx="1417320" cy="365760"/>
          </a:xfrm>
          <a:prstGeom prst="rect">
            <a:avLst/>
          </a:prstGeom>
          <a:noFill/>
          <a:ln/>
        </p:spPr>
        <p:txBody>
          <a:bodyPr wrap="square" lIns="0" tIns="0" rIns="0" bIns="0" rtlCol="0" anchor="ctr"/>
          <a:lstStyle/>
          <a:p>
            <a:pPr indent="0" marL="0">
              <a:buNone/>
            </a:pPr>
            <a:r>
              <a:rPr lang="en-US" sz="1400" b="1" dirty="0">
                <a:solidFill>
                  <a:srgbClr val="EEF0F5"/>
                </a:solidFill>
                <a:latin typeface="Segoe UI" pitchFamily="34" charset="0"/>
                <a:ea typeface="Segoe UI" pitchFamily="34" charset="-122"/>
                <a:cs typeface="Segoe UI" pitchFamily="34" charset="-120"/>
              </a:rPr>
              <a:t>Fireworks LLM</a:t>
            </a:r>
            <a:endParaRPr lang="en-US" sz="1400" dirty="0"/>
          </a:p>
        </p:txBody>
      </p:sp>
      <p:sp>
        <p:nvSpPr>
          <p:cNvPr id="27" name="Text 21"/>
          <p:cNvSpPr txBox="1"/>
          <p:nvPr/>
        </p:nvSpPr>
        <p:spPr>
          <a:xfrm>
            <a:off x="9464040" y="2450592"/>
            <a:ext cx="1965960" cy="566928"/>
          </a:xfrm>
          <a:prstGeom prst="rect">
            <a:avLst/>
          </a:prstGeom>
          <a:noFill/>
          <a:ln/>
        </p:spPr>
        <p:txBody>
          <a:bodyPr wrap="square" lIns="0" tIns="0" rIns="0" bIns="0" rtlCol="0" anchor="t"/>
          <a:lstStyle/>
          <a:p>
            <a:pPr indent="0" marL="0">
              <a:buNone/>
            </a:pPr>
            <a:r>
              <a:rPr lang="en-US" sz="1150" dirty="0">
                <a:solidFill>
                  <a:srgbClr val="A3AABB"/>
                </a:solidFill>
                <a:latin typeface="Segoe UI" pitchFamily="34" charset="0"/>
                <a:ea typeface="Segoe UI" pitchFamily="34" charset="-122"/>
                <a:cs typeface="Segoe UI" pitchFamily="34" charset="-120"/>
              </a:rPr>
              <a:t>Semantic mapping only,</a:t>
            </a:r>
            <a:endParaRPr lang="en-US" sz="1150" dirty="0"/>
          </a:p>
          <a:p>
            <a:pPr indent="0" marL="0">
              <a:buNone/>
            </a:pPr>
            <a:r>
              <a:rPr lang="en-US" sz="1150" dirty="0">
                <a:solidFill>
                  <a:srgbClr val="A3AABB"/>
                </a:solidFill>
                <a:latin typeface="Segoe UI" pitchFamily="34" charset="0"/>
                <a:ea typeface="Segoe UI" pitchFamily="34" charset="-122"/>
                <a:cs typeface="Segoe UI" pitchFamily="34" charset="-120"/>
              </a:rPr>
              <a:t>never the math</a:t>
            </a:r>
            <a:endParaRPr lang="en-US" sz="1150" dirty="0"/>
          </a:p>
        </p:txBody>
      </p:sp>
      <p:sp>
        <p:nvSpPr>
          <p:cNvPr id="28" name="Text 22"/>
          <p:cNvSpPr txBox="1"/>
          <p:nvPr/>
        </p:nvSpPr>
        <p:spPr>
          <a:xfrm>
            <a:off x="640080" y="3310128"/>
            <a:ext cx="10881360" cy="320040"/>
          </a:xfrm>
          <a:prstGeom prst="rect">
            <a:avLst/>
          </a:prstGeom>
          <a:noFill/>
          <a:ln/>
        </p:spPr>
        <p:txBody>
          <a:bodyPr wrap="square" lIns="0" tIns="0" rIns="0" bIns="0" rtlCol="0" anchor="t"/>
          <a:lstStyle/>
          <a:p>
            <a:pPr indent="0" marL="0">
              <a:buNone/>
            </a:pPr>
            <a:r>
              <a:rPr lang="en-US" sz="1250" b="1" dirty="0">
                <a:solidFill>
                  <a:srgbClr val="F5B546"/>
                </a:solidFill>
                <a:latin typeface="Segoe UI" pitchFamily="34" charset="0"/>
                <a:ea typeface="Segoe UI" pitchFamily="34" charset="-122"/>
                <a:cs typeface="Segoe UI" pitchFamily="34" charset="-120"/>
              </a:rPr>
              <a:t>1 </a:t>
            </a:r>
            <a:pPr indent="0" marL="0">
              <a:buNone/>
            </a:pPr>
            <a:r>
              <a:rPr lang="en-US" sz="1250" dirty="0">
                <a:solidFill>
                  <a:srgbClr val="A3AABB"/>
                </a:solidFill>
                <a:latin typeface="Segoe UI" pitchFamily="34" charset="0"/>
                <a:ea typeface="Segoe UI" pitchFamily="34" charset="-122"/>
                <a:cs typeface="Segoe UI" pitchFamily="34" charset="-120"/>
              </a:rPr>
              <a:t>unpaid call → 402, $0.02     </a:t>
            </a:r>
            <a:pPr indent="0" marL="0">
              <a:buNone/>
            </a:pPr>
            <a:r>
              <a:rPr lang="en-US" sz="1250" b="1" dirty="0">
                <a:solidFill>
                  <a:srgbClr val="F5B546"/>
                </a:solidFill>
                <a:latin typeface="Segoe UI" pitchFamily="34" charset="0"/>
                <a:ea typeface="Segoe UI" pitchFamily="34" charset="-122"/>
                <a:cs typeface="Segoe UI" pitchFamily="34" charset="-120"/>
              </a:rPr>
              <a:t>2 </a:t>
            </a:r>
            <a:pPr indent="0" marL="0">
              <a:buNone/>
            </a:pPr>
            <a:r>
              <a:rPr lang="en-US" sz="1250" dirty="0">
                <a:solidFill>
                  <a:srgbClr val="A3AABB"/>
                </a:solidFill>
                <a:latin typeface="Segoe UI" pitchFamily="34" charset="0"/>
                <a:ea typeface="Segoe UI" pitchFamily="34" charset="-122"/>
                <a:cs typeface="Segoe UI" pitchFamily="34" charset="-120"/>
              </a:rPr>
              <a:t>pay settles USDC on Solana (sandbox)     </a:t>
            </a:r>
            <a:pPr indent="0" marL="0">
              <a:buNone/>
            </a:pPr>
            <a:r>
              <a:rPr lang="en-US" sz="1250" b="1" dirty="0">
                <a:solidFill>
                  <a:srgbClr val="B7ADFF"/>
                </a:solidFill>
                <a:latin typeface="Segoe UI" pitchFamily="34" charset="0"/>
                <a:ea typeface="Segoe UI" pitchFamily="34" charset="-122"/>
                <a:cs typeface="Segoe UI" pitchFamily="34" charset="-120"/>
              </a:rPr>
              <a:t>3 </a:t>
            </a:r>
            <a:pPr indent="0" marL="0">
              <a:buNone/>
            </a:pPr>
            <a:r>
              <a:rPr lang="en-US" sz="1250" dirty="0">
                <a:solidFill>
                  <a:srgbClr val="A3AABB"/>
                </a:solidFill>
                <a:latin typeface="Segoe UI" pitchFamily="34" charset="0"/>
                <a:ea typeface="Segoe UI" pitchFamily="34" charset="-122"/>
                <a:cs typeface="Segoe UI" pitchFamily="34" charset="-120"/>
              </a:rPr>
              <a:t>gateway proxies to /v1/adapt     </a:t>
            </a:r>
            <a:pPr indent="0" marL="0">
              <a:buNone/>
            </a:pPr>
            <a:r>
              <a:rPr lang="en-US" sz="1250" b="1" dirty="0">
                <a:solidFill>
                  <a:srgbClr val="34D399"/>
                </a:solidFill>
                <a:latin typeface="Segoe UI" pitchFamily="34" charset="0"/>
                <a:ea typeface="Segoe UI" pitchFamily="34" charset="-122"/>
                <a:cs typeface="Segoe UI" pitchFamily="34" charset="-120"/>
              </a:rPr>
              <a:t>4 </a:t>
            </a:r>
            <a:pPr indent="0" marL="0">
              <a:buNone/>
            </a:pPr>
            <a:r>
              <a:rPr lang="en-US" sz="1250" dirty="0">
                <a:solidFill>
                  <a:srgbClr val="A3AABB"/>
                </a:solidFill>
                <a:latin typeface="Segoe UI" pitchFamily="34" charset="0"/>
                <a:ea typeface="Segoe UI" pitchFamily="34" charset="-122"/>
                <a:cs typeface="Segoe UI" pitchFamily="34" charset="-120"/>
              </a:rPr>
              <a:t>{ data, valid, warnings }</a:t>
            </a:r>
            <a:endParaRPr lang="en-US" sz="1250" dirty="0"/>
          </a:p>
        </p:txBody>
      </p:sp>
      <p:sp>
        <p:nvSpPr>
          <p:cNvPr id="29" name="Text 23"/>
          <p:cNvSpPr txBox="1"/>
          <p:nvPr/>
        </p:nvSpPr>
        <p:spPr>
          <a:xfrm>
            <a:off x="640080" y="3931920"/>
            <a:ext cx="4572000" cy="274320"/>
          </a:xfrm>
          <a:prstGeom prst="rect">
            <a:avLst/>
          </a:prstGeom>
          <a:noFill/>
          <a:ln/>
        </p:spPr>
        <p:txBody>
          <a:bodyPr wrap="square" lIns="0" tIns="0" rIns="0" bIns="0" rtlCol="0" anchor="t"/>
          <a:lstStyle/>
          <a:p>
            <a:pPr indent="0" marL="0">
              <a:buNone/>
            </a:pPr>
            <a:r>
              <a:rPr lang="en-US" sz="1100" b="1" spc="200" kern="0" dirty="0">
                <a:solidFill>
                  <a:srgbClr val="6B7285"/>
                </a:solidFill>
                <a:latin typeface="Segoe UI" pitchFamily="34" charset="0"/>
                <a:ea typeface="Segoe UI" pitchFamily="34" charset="-122"/>
                <a:cs typeface="Segoe UI" pitchFamily="34" charset="-120"/>
              </a:rPr>
              <a:t>INSIDE ONE /v1/adapt CALL</a:t>
            </a:r>
            <a:endParaRPr lang="en-US" sz="1100" dirty="0"/>
          </a:p>
        </p:txBody>
      </p:sp>
      <p:sp>
        <p:nvSpPr>
          <p:cNvPr id="30" name="Shape 24"/>
          <p:cNvSpPr/>
          <p:nvPr/>
        </p:nvSpPr>
        <p:spPr>
          <a:xfrm>
            <a:off x="6720840" y="3986784"/>
            <a:ext cx="146304" cy="146304"/>
          </a:xfrm>
          <a:prstGeom prst="ellipse">
            <a:avLst/>
          </a:prstGeom>
          <a:solidFill>
            <a:srgbClr val="8B7CFF"/>
          </a:solidFill>
          <a:ln w="12700">
            <a:solidFill>
              <a:srgbClr val="8B7CFF"/>
            </a:solidFill>
            <a:prstDash val="solid"/>
          </a:ln>
        </p:spPr>
      </p:sp>
      <p:sp>
        <p:nvSpPr>
          <p:cNvPr id="31" name="Text 25"/>
          <p:cNvSpPr txBox="1"/>
          <p:nvPr/>
        </p:nvSpPr>
        <p:spPr>
          <a:xfrm>
            <a:off x="6931152" y="3931920"/>
            <a:ext cx="219456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model: what the data means</a:t>
            </a:r>
            <a:endParaRPr lang="en-US" sz="1200" dirty="0"/>
          </a:p>
        </p:txBody>
      </p:sp>
      <p:sp>
        <p:nvSpPr>
          <p:cNvPr id="32" name="Shape 26"/>
          <p:cNvSpPr/>
          <p:nvPr/>
        </p:nvSpPr>
        <p:spPr>
          <a:xfrm>
            <a:off x="9144000" y="3986784"/>
            <a:ext cx="146304" cy="146304"/>
          </a:xfrm>
          <a:prstGeom prst="ellipse">
            <a:avLst/>
          </a:prstGeom>
          <a:solidFill>
            <a:srgbClr val="34D399"/>
          </a:solidFill>
          <a:ln w="12700">
            <a:solidFill>
              <a:srgbClr val="34D399"/>
            </a:solidFill>
            <a:prstDash val="solid"/>
          </a:ln>
        </p:spPr>
      </p:sp>
      <p:sp>
        <p:nvSpPr>
          <p:cNvPr id="33" name="Text 27"/>
          <p:cNvSpPr txBox="1"/>
          <p:nvPr/>
        </p:nvSpPr>
        <p:spPr>
          <a:xfrm>
            <a:off x="9354312" y="3931920"/>
            <a:ext cx="2194560" cy="2743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code: validity + exact math</a:t>
            </a:r>
            <a:endParaRPr lang="en-US" sz="1200" dirty="0"/>
          </a:p>
        </p:txBody>
      </p:sp>
      <p:sp>
        <p:nvSpPr>
          <p:cNvPr id="34" name="Shape 28"/>
          <p:cNvSpPr/>
          <p:nvPr/>
        </p:nvSpPr>
        <p:spPr>
          <a:xfrm>
            <a:off x="640080" y="4343400"/>
            <a:ext cx="1645920" cy="1600200"/>
          </a:xfrm>
          <a:prstGeom prst="roundRect">
            <a:avLst>
              <a:gd name="adj" fmla="val 6857"/>
            </a:avLst>
          </a:prstGeom>
          <a:solidFill>
            <a:srgbClr val="151925"/>
          </a:solidFill>
          <a:ln w="9525">
            <a:solidFill>
              <a:srgbClr val="2D6B55"/>
            </a:solidFill>
            <a:prstDash val="solid"/>
          </a:ln>
        </p:spPr>
      </p:sp>
      <p:sp>
        <p:nvSpPr>
          <p:cNvPr id="35" name="Text 29"/>
          <p:cNvSpPr txBox="1"/>
          <p:nvPr/>
        </p:nvSpPr>
        <p:spPr>
          <a:xfrm>
            <a:off x="804672" y="4480560"/>
            <a:ext cx="457200" cy="274320"/>
          </a:xfrm>
          <a:prstGeom prst="rect">
            <a:avLst/>
          </a:prstGeom>
          <a:noFill/>
          <a:ln/>
        </p:spPr>
        <p:txBody>
          <a:bodyPr wrap="square" lIns="0" tIns="0" rIns="0" bIns="0" rtlCol="0" anchor="t"/>
          <a:lstStyle/>
          <a:p>
            <a:pPr indent="0" marL="0">
              <a:buNone/>
            </a:pPr>
            <a:r>
              <a:rPr lang="en-US" sz="1200" b="1" dirty="0">
                <a:solidFill>
                  <a:srgbClr val="34D399"/>
                </a:solidFill>
                <a:latin typeface="Segoe UI" pitchFamily="34" charset="0"/>
                <a:ea typeface="Segoe UI" pitchFamily="34" charset="-122"/>
                <a:cs typeface="Segoe UI" pitchFamily="34" charset="-120"/>
              </a:rPr>
              <a:t>1</a:t>
            </a:r>
            <a:endParaRPr lang="en-US" sz="1200" dirty="0"/>
          </a:p>
        </p:txBody>
      </p:sp>
      <p:sp>
        <p:nvSpPr>
          <p:cNvPr id="36" name="Text 30"/>
          <p:cNvSpPr txBox="1"/>
          <p:nvPr/>
        </p:nvSpPr>
        <p:spPr>
          <a:xfrm>
            <a:off x="804672"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Parse</a:t>
            </a:r>
            <a:endParaRPr lang="en-US" sz="1500" dirty="0"/>
          </a:p>
        </p:txBody>
      </p:sp>
      <p:sp>
        <p:nvSpPr>
          <p:cNvPr id="37" name="Text 31"/>
          <p:cNvSpPr txBox="1"/>
          <p:nvPr/>
        </p:nvSpPr>
        <p:spPr>
          <a:xfrm>
            <a:off x="804672"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JSON · CSV · text. Bad input → 422, no model call</a:t>
            </a:r>
            <a:endParaRPr lang="en-US" sz="1100" dirty="0"/>
          </a:p>
        </p:txBody>
      </p:sp>
      <p:sp>
        <p:nvSpPr>
          <p:cNvPr id="38" name="Shape 32"/>
          <p:cNvSpPr/>
          <p:nvPr/>
        </p:nvSpPr>
        <p:spPr>
          <a:xfrm>
            <a:off x="2313432" y="5138928"/>
            <a:ext cx="146304" cy="0"/>
          </a:xfrm>
          <a:prstGeom prst="line">
            <a:avLst/>
          </a:prstGeom>
          <a:noFill/>
          <a:ln w="19050">
            <a:solidFill>
              <a:srgbClr val="6B7285"/>
            </a:solidFill>
            <a:prstDash val="solid"/>
            <a:tailEnd type="triangle"/>
          </a:ln>
        </p:spPr>
      </p:sp>
      <p:sp>
        <p:nvSpPr>
          <p:cNvPr id="39" name="Shape 33"/>
          <p:cNvSpPr/>
          <p:nvPr/>
        </p:nvSpPr>
        <p:spPr>
          <a:xfrm>
            <a:off x="2487168" y="4343400"/>
            <a:ext cx="1645920" cy="1600200"/>
          </a:xfrm>
          <a:prstGeom prst="roundRect">
            <a:avLst>
              <a:gd name="adj" fmla="val 6857"/>
            </a:avLst>
          </a:prstGeom>
          <a:solidFill>
            <a:srgbClr val="151925"/>
          </a:solidFill>
          <a:ln w="9525">
            <a:solidFill>
              <a:srgbClr val="2D6B55"/>
            </a:solidFill>
            <a:prstDash val="solid"/>
          </a:ln>
        </p:spPr>
      </p:sp>
      <p:sp>
        <p:nvSpPr>
          <p:cNvPr id="40" name="Text 34"/>
          <p:cNvSpPr txBox="1"/>
          <p:nvPr/>
        </p:nvSpPr>
        <p:spPr>
          <a:xfrm>
            <a:off x="2651760" y="4480560"/>
            <a:ext cx="457200" cy="274320"/>
          </a:xfrm>
          <a:prstGeom prst="rect">
            <a:avLst/>
          </a:prstGeom>
          <a:noFill/>
          <a:ln/>
        </p:spPr>
        <p:txBody>
          <a:bodyPr wrap="square" lIns="0" tIns="0" rIns="0" bIns="0" rtlCol="0" anchor="t"/>
          <a:lstStyle/>
          <a:p>
            <a:pPr indent="0" marL="0">
              <a:buNone/>
            </a:pPr>
            <a:r>
              <a:rPr lang="en-US" sz="1200" b="1" dirty="0">
                <a:solidFill>
                  <a:srgbClr val="34D399"/>
                </a:solidFill>
                <a:latin typeface="Segoe UI" pitchFamily="34" charset="0"/>
                <a:ea typeface="Segoe UI" pitchFamily="34" charset="-122"/>
                <a:cs typeface="Segoe UI" pitchFamily="34" charset="-120"/>
              </a:rPr>
              <a:t>2</a:t>
            </a:r>
            <a:endParaRPr lang="en-US" sz="1200" dirty="0"/>
          </a:p>
        </p:txBody>
      </p:sp>
      <p:sp>
        <p:nvSpPr>
          <p:cNvPr id="41" name="Text 35"/>
          <p:cNvSpPr txBox="1"/>
          <p:nvPr/>
        </p:nvSpPr>
        <p:spPr>
          <a:xfrm>
            <a:off x="2651760"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Annotate</a:t>
            </a:r>
            <a:endParaRPr lang="en-US" sz="1500" dirty="0"/>
          </a:p>
        </p:txBody>
      </p:sp>
      <p:sp>
        <p:nvSpPr>
          <p:cNvPr id="42" name="Text 36"/>
          <p:cNvSpPr txBox="1"/>
          <p:nvPr/>
        </p:nvSpPr>
        <p:spPr>
          <a:xfrm>
            <a:off x="2651760"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Every number gets an id, e.g. q1 = $19.92/hr</a:t>
            </a:r>
            <a:endParaRPr lang="en-US" sz="1100" dirty="0"/>
          </a:p>
        </p:txBody>
      </p:sp>
      <p:sp>
        <p:nvSpPr>
          <p:cNvPr id="43" name="Shape 37"/>
          <p:cNvSpPr/>
          <p:nvPr/>
        </p:nvSpPr>
        <p:spPr>
          <a:xfrm>
            <a:off x="4160520" y="5138928"/>
            <a:ext cx="146304" cy="0"/>
          </a:xfrm>
          <a:prstGeom prst="line">
            <a:avLst/>
          </a:prstGeom>
          <a:noFill/>
          <a:ln w="19050">
            <a:solidFill>
              <a:srgbClr val="6B7285"/>
            </a:solidFill>
            <a:prstDash val="solid"/>
            <a:tailEnd type="triangle"/>
          </a:ln>
        </p:spPr>
      </p:sp>
      <p:sp>
        <p:nvSpPr>
          <p:cNvPr id="44" name="Shape 38"/>
          <p:cNvSpPr/>
          <p:nvPr/>
        </p:nvSpPr>
        <p:spPr>
          <a:xfrm>
            <a:off x="4334256" y="4343400"/>
            <a:ext cx="1645920" cy="1600200"/>
          </a:xfrm>
          <a:prstGeom prst="roundRect">
            <a:avLst>
              <a:gd name="adj" fmla="val 6857"/>
            </a:avLst>
          </a:prstGeom>
          <a:solidFill>
            <a:srgbClr val="221E3D"/>
          </a:solidFill>
          <a:ln w="9525">
            <a:solidFill>
              <a:srgbClr val="5B4FC0"/>
            </a:solidFill>
            <a:prstDash val="solid"/>
          </a:ln>
        </p:spPr>
      </p:sp>
      <p:sp>
        <p:nvSpPr>
          <p:cNvPr id="45" name="Text 39"/>
          <p:cNvSpPr txBox="1"/>
          <p:nvPr/>
        </p:nvSpPr>
        <p:spPr>
          <a:xfrm>
            <a:off x="4498848" y="4480560"/>
            <a:ext cx="457200" cy="274320"/>
          </a:xfrm>
          <a:prstGeom prst="rect">
            <a:avLst/>
          </a:prstGeom>
          <a:noFill/>
          <a:ln/>
        </p:spPr>
        <p:txBody>
          <a:bodyPr wrap="square" lIns="0" tIns="0" rIns="0" bIns="0" rtlCol="0" anchor="t"/>
          <a:lstStyle/>
          <a:p>
            <a:pPr indent="0" marL="0">
              <a:buNone/>
            </a:pPr>
            <a:r>
              <a:rPr lang="en-US" sz="1200" b="1" dirty="0">
                <a:solidFill>
                  <a:srgbClr val="B7ADFF"/>
                </a:solidFill>
                <a:latin typeface="Segoe UI" pitchFamily="34" charset="0"/>
                <a:ea typeface="Segoe UI" pitchFamily="34" charset="-122"/>
                <a:cs typeface="Segoe UI" pitchFamily="34" charset="-120"/>
              </a:rPr>
              <a:t>3</a:t>
            </a:r>
            <a:endParaRPr lang="en-US" sz="1200" dirty="0"/>
          </a:p>
        </p:txBody>
      </p:sp>
      <p:sp>
        <p:nvSpPr>
          <p:cNvPr id="46" name="Text 40"/>
          <p:cNvSpPr txBox="1"/>
          <p:nvPr/>
        </p:nvSpPr>
        <p:spPr>
          <a:xfrm>
            <a:off x="4498848"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LLM map</a:t>
            </a:r>
            <a:endParaRPr lang="en-US" sz="1500" dirty="0"/>
          </a:p>
        </p:txBody>
      </p:sp>
      <p:sp>
        <p:nvSpPr>
          <p:cNvPr id="47" name="Text 41"/>
          <p:cNvSpPr txBox="1"/>
          <p:nvPr/>
        </p:nvSpPr>
        <p:spPr>
          <a:xfrm>
            <a:off x="4498848"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Evidence + a formula per field, e.g. q1 / q2</a:t>
            </a:r>
            <a:endParaRPr lang="en-US" sz="1100" dirty="0"/>
          </a:p>
        </p:txBody>
      </p:sp>
      <p:sp>
        <p:nvSpPr>
          <p:cNvPr id="48" name="Shape 42"/>
          <p:cNvSpPr/>
          <p:nvPr/>
        </p:nvSpPr>
        <p:spPr>
          <a:xfrm>
            <a:off x="6007608" y="5138928"/>
            <a:ext cx="146304" cy="0"/>
          </a:xfrm>
          <a:prstGeom prst="line">
            <a:avLst/>
          </a:prstGeom>
          <a:noFill/>
          <a:ln w="19050">
            <a:solidFill>
              <a:srgbClr val="6B7285"/>
            </a:solidFill>
            <a:prstDash val="solid"/>
            <a:tailEnd type="triangle"/>
          </a:ln>
        </p:spPr>
      </p:sp>
      <p:sp>
        <p:nvSpPr>
          <p:cNvPr id="49" name="Shape 43"/>
          <p:cNvSpPr/>
          <p:nvPr/>
        </p:nvSpPr>
        <p:spPr>
          <a:xfrm>
            <a:off x="6181344" y="4343400"/>
            <a:ext cx="1645920" cy="1600200"/>
          </a:xfrm>
          <a:prstGeom prst="roundRect">
            <a:avLst>
              <a:gd name="adj" fmla="val 6857"/>
            </a:avLst>
          </a:prstGeom>
          <a:solidFill>
            <a:srgbClr val="151925"/>
          </a:solidFill>
          <a:ln w="9525">
            <a:solidFill>
              <a:srgbClr val="2D6B55"/>
            </a:solidFill>
            <a:prstDash val="solid"/>
          </a:ln>
        </p:spPr>
      </p:sp>
      <p:sp>
        <p:nvSpPr>
          <p:cNvPr id="50" name="Text 44"/>
          <p:cNvSpPr txBox="1"/>
          <p:nvPr/>
        </p:nvSpPr>
        <p:spPr>
          <a:xfrm>
            <a:off x="6345936" y="4480560"/>
            <a:ext cx="457200" cy="274320"/>
          </a:xfrm>
          <a:prstGeom prst="rect">
            <a:avLst/>
          </a:prstGeom>
          <a:noFill/>
          <a:ln/>
        </p:spPr>
        <p:txBody>
          <a:bodyPr wrap="square" lIns="0" tIns="0" rIns="0" bIns="0" rtlCol="0" anchor="t"/>
          <a:lstStyle/>
          <a:p>
            <a:pPr indent="0" marL="0">
              <a:buNone/>
            </a:pPr>
            <a:r>
              <a:rPr lang="en-US" sz="1200" b="1" dirty="0">
                <a:solidFill>
                  <a:srgbClr val="34D399"/>
                </a:solidFill>
                <a:latin typeface="Segoe UI" pitchFamily="34" charset="0"/>
                <a:ea typeface="Segoe UI" pitchFamily="34" charset="-122"/>
                <a:cs typeface="Segoe UI" pitchFamily="34" charset="-120"/>
              </a:rPr>
              <a:t>4</a:t>
            </a:r>
            <a:endParaRPr lang="en-US" sz="1200" dirty="0"/>
          </a:p>
        </p:txBody>
      </p:sp>
      <p:sp>
        <p:nvSpPr>
          <p:cNvPr id="51" name="Text 45"/>
          <p:cNvSpPr txBox="1"/>
          <p:nvPr/>
        </p:nvSpPr>
        <p:spPr>
          <a:xfrm>
            <a:off x="6345936"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Normalize</a:t>
            </a:r>
            <a:endParaRPr lang="en-US" sz="1500" dirty="0"/>
          </a:p>
        </p:txBody>
      </p:sp>
      <p:sp>
        <p:nvSpPr>
          <p:cNvPr id="52" name="Text 46"/>
          <p:cNvSpPr txBox="1"/>
          <p:nvPr/>
        </p:nvSpPr>
        <p:spPr>
          <a:xfrm>
            <a:off x="6345936"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Evaluate formulas exactly; reject ungrounded values</a:t>
            </a:r>
            <a:endParaRPr lang="en-US" sz="1100" dirty="0"/>
          </a:p>
        </p:txBody>
      </p:sp>
      <p:sp>
        <p:nvSpPr>
          <p:cNvPr id="53" name="Shape 47"/>
          <p:cNvSpPr/>
          <p:nvPr/>
        </p:nvSpPr>
        <p:spPr>
          <a:xfrm>
            <a:off x="7854696" y="5138928"/>
            <a:ext cx="146304" cy="0"/>
          </a:xfrm>
          <a:prstGeom prst="line">
            <a:avLst/>
          </a:prstGeom>
          <a:noFill/>
          <a:ln w="19050">
            <a:solidFill>
              <a:srgbClr val="6B7285"/>
            </a:solidFill>
            <a:prstDash val="solid"/>
            <a:tailEnd type="triangle"/>
          </a:ln>
        </p:spPr>
      </p:sp>
      <p:sp>
        <p:nvSpPr>
          <p:cNvPr id="54" name="Shape 48"/>
          <p:cNvSpPr/>
          <p:nvPr/>
        </p:nvSpPr>
        <p:spPr>
          <a:xfrm>
            <a:off x="8028432" y="4343400"/>
            <a:ext cx="1645920" cy="1600200"/>
          </a:xfrm>
          <a:prstGeom prst="roundRect">
            <a:avLst>
              <a:gd name="adj" fmla="val 6857"/>
            </a:avLst>
          </a:prstGeom>
          <a:solidFill>
            <a:srgbClr val="151925"/>
          </a:solidFill>
          <a:ln w="9525">
            <a:solidFill>
              <a:srgbClr val="2D6B55"/>
            </a:solidFill>
            <a:prstDash val="solid"/>
          </a:ln>
        </p:spPr>
      </p:sp>
      <p:sp>
        <p:nvSpPr>
          <p:cNvPr id="55" name="Text 49"/>
          <p:cNvSpPr txBox="1"/>
          <p:nvPr/>
        </p:nvSpPr>
        <p:spPr>
          <a:xfrm>
            <a:off x="8193024" y="4480560"/>
            <a:ext cx="457200" cy="274320"/>
          </a:xfrm>
          <a:prstGeom prst="rect">
            <a:avLst/>
          </a:prstGeom>
          <a:noFill/>
          <a:ln/>
        </p:spPr>
        <p:txBody>
          <a:bodyPr wrap="square" lIns="0" tIns="0" rIns="0" bIns="0" rtlCol="0" anchor="t"/>
          <a:lstStyle/>
          <a:p>
            <a:pPr indent="0" marL="0">
              <a:buNone/>
            </a:pPr>
            <a:r>
              <a:rPr lang="en-US" sz="1200" b="1" dirty="0">
                <a:solidFill>
                  <a:srgbClr val="34D399"/>
                </a:solidFill>
                <a:latin typeface="Segoe UI" pitchFamily="34" charset="0"/>
                <a:ea typeface="Segoe UI" pitchFamily="34" charset="-122"/>
                <a:cs typeface="Segoe UI" pitchFamily="34" charset="-120"/>
              </a:rPr>
              <a:t>5</a:t>
            </a:r>
            <a:endParaRPr lang="en-US" sz="1200" dirty="0"/>
          </a:p>
        </p:txBody>
      </p:sp>
      <p:sp>
        <p:nvSpPr>
          <p:cNvPr id="56" name="Text 50"/>
          <p:cNvSpPr txBox="1"/>
          <p:nvPr/>
        </p:nvSpPr>
        <p:spPr>
          <a:xfrm>
            <a:off x="8193024"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Validate</a:t>
            </a:r>
            <a:endParaRPr lang="en-US" sz="1500" dirty="0"/>
          </a:p>
        </p:txBody>
      </p:sp>
      <p:sp>
        <p:nvSpPr>
          <p:cNvPr id="57" name="Text 51"/>
          <p:cNvSpPr txBox="1"/>
          <p:nvPr/>
        </p:nvSpPr>
        <p:spPr>
          <a:xfrm>
            <a:off x="8193024"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JSON Schema check, one repair attempt</a:t>
            </a:r>
            <a:endParaRPr lang="en-US" sz="1100" dirty="0"/>
          </a:p>
        </p:txBody>
      </p:sp>
      <p:sp>
        <p:nvSpPr>
          <p:cNvPr id="58" name="Shape 52"/>
          <p:cNvSpPr/>
          <p:nvPr/>
        </p:nvSpPr>
        <p:spPr>
          <a:xfrm>
            <a:off x="9701784" y="5138928"/>
            <a:ext cx="146304" cy="0"/>
          </a:xfrm>
          <a:prstGeom prst="line">
            <a:avLst/>
          </a:prstGeom>
          <a:noFill/>
          <a:ln w="19050">
            <a:solidFill>
              <a:srgbClr val="6B7285"/>
            </a:solidFill>
            <a:prstDash val="solid"/>
            <a:tailEnd type="triangle"/>
          </a:ln>
        </p:spPr>
      </p:sp>
      <p:sp>
        <p:nvSpPr>
          <p:cNvPr id="59" name="Shape 53"/>
          <p:cNvSpPr/>
          <p:nvPr/>
        </p:nvSpPr>
        <p:spPr>
          <a:xfrm>
            <a:off x="9875520" y="4343400"/>
            <a:ext cx="1645920" cy="1600200"/>
          </a:xfrm>
          <a:prstGeom prst="roundRect">
            <a:avLst>
              <a:gd name="adj" fmla="val 6857"/>
            </a:avLst>
          </a:prstGeom>
          <a:solidFill>
            <a:srgbClr val="151925"/>
          </a:solidFill>
          <a:ln w="9525">
            <a:solidFill>
              <a:srgbClr val="2D6B55"/>
            </a:solidFill>
            <a:prstDash val="solid"/>
          </a:ln>
        </p:spPr>
      </p:sp>
      <p:sp>
        <p:nvSpPr>
          <p:cNvPr id="60" name="Text 54"/>
          <p:cNvSpPr txBox="1"/>
          <p:nvPr/>
        </p:nvSpPr>
        <p:spPr>
          <a:xfrm>
            <a:off x="10040112" y="4480560"/>
            <a:ext cx="457200" cy="274320"/>
          </a:xfrm>
          <a:prstGeom prst="rect">
            <a:avLst/>
          </a:prstGeom>
          <a:noFill/>
          <a:ln/>
        </p:spPr>
        <p:txBody>
          <a:bodyPr wrap="square" lIns="0" tIns="0" rIns="0" bIns="0" rtlCol="0" anchor="t"/>
          <a:lstStyle/>
          <a:p>
            <a:pPr indent="0" marL="0">
              <a:buNone/>
            </a:pPr>
            <a:r>
              <a:rPr lang="en-US" sz="1200" b="1" dirty="0">
                <a:solidFill>
                  <a:srgbClr val="34D399"/>
                </a:solidFill>
                <a:latin typeface="Segoe UI" pitchFamily="34" charset="0"/>
                <a:ea typeface="Segoe UI" pitchFamily="34" charset="-122"/>
                <a:cs typeface="Segoe UI" pitchFamily="34" charset="-120"/>
              </a:rPr>
              <a:t>6</a:t>
            </a:r>
            <a:endParaRPr lang="en-US" sz="1200" dirty="0"/>
          </a:p>
        </p:txBody>
      </p:sp>
      <p:sp>
        <p:nvSpPr>
          <p:cNvPr id="61" name="Text 55"/>
          <p:cNvSpPr txBox="1"/>
          <p:nvPr/>
        </p:nvSpPr>
        <p:spPr>
          <a:xfrm>
            <a:off x="10040112" y="4718304"/>
            <a:ext cx="1371600" cy="320040"/>
          </a:xfrm>
          <a:prstGeom prst="rect">
            <a:avLst/>
          </a:prstGeom>
          <a:noFill/>
          <a:ln/>
        </p:spPr>
        <p:txBody>
          <a:bodyPr wrap="square" lIns="0" tIns="0" rIns="0" bIns="0" rtlCol="0" anchor="t"/>
          <a:lstStyle/>
          <a:p>
            <a:pPr indent="0" marL="0">
              <a:buNone/>
            </a:pPr>
            <a:r>
              <a:rPr lang="en-US" sz="1500" b="1" dirty="0">
                <a:solidFill>
                  <a:srgbClr val="EEF0F5"/>
                </a:solidFill>
                <a:latin typeface="Segoe UI" pitchFamily="34" charset="0"/>
                <a:ea typeface="Segoe UI" pitchFamily="34" charset="-122"/>
                <a:cs typeface="Segoe UI" pitchFamily="34" charset="-120"/>
              </a:rPr>
              <a:t>Respond</a:t>
            </a:r>
            <a:endParaRPr lang="en-US" sz="1500" dirty="0"/>
          </a:p>
        </p:txBody>
      </p:sp>
      <p:sp>
        <p:nvSpPr>
          <p:cNvPr id="62" name="Text 56"/>
          <p:cNvSpPr txBox="1"/>
          <p:nvPr/>
        </p:nvSpPr>
        <p:spPr>
          <a:xfrm>
            <a:off x="10040112" y="5074920"/>
            <a:ext cx="1371600" cy="822960"/>
          </a:xfrm>
          <a:prstGeom prst="rect">
            <a:avLst/>
          </a:prstGeom>
          <a:noFill/>
          <a:ln/>
        </p:spPr>
        <p:txBody>
          <a:bodyPr wrap="square" lIns="0" tIns="0" rIns="0" bIns="0" rtlCol="0" anchor="t"/>
          <a:lstStyle/>
          <a:p>
            <a:pPr indent="0" marL="0">
              <a:lnSpc>
                <a:spcPct val="105000"/>
              </a:lnSpc>
              <a:buNone/>
            </a:pPr>
            <a:r>
              <a:rPr lang="en-US" sz="1100" dirty="0">
                <a:solidFill>
                  <a:srgbClr val="A3AABB"/>
                </a:solidFill>
                <a:latin typeface="Segoe UI" pitchFamily="34" charset="0"/>
                <a:ea typeface="Segoe UI" pitchFamily="34" charset="-122"/>
                <a:cs typeface="Segoe UI" pitchFamily="34" charset="-120"/>
              </a:rPr>
              <a:t>data · valid · warnings, plus a per-field trace</a:t>
            </a:r>
            <a:endParaRPr lang="en-US" sz="1100" dirty="0"/>
          </a:p>
        </p:txBody>
      </p:sp>
      <p:sp>
        <p:nvSpPr>
          <p:cNvPr id="63" name="Text 57"/>
          <p:cNvSpPr txBox="1"/>
          <p:nvPr/>
        </p:nvSpPr>
        <p:spPr>
          <a:xfrm>
            <a:off x="640080" y="6144768"/>
            <a:ext cx="10881360" cy="320040"/>
          </a:xfrm>
          <a:prstGeom prst="rect">
            <a:avLst/>
          </a:prstGeom>
          <a:noFill/>
          <a:ln/>
        </p:spPr>
        <p:txBody>
          <a:bodyPr wrap="square" lIns="0" tIns="0" rIns="0" bIns="0" rtlCol="0" anchor="t"/>
          <a:lstStyle/>
          <a:p>
            <a:pPr indent="0" marL="0">
              <a:buNone/>
            </a:pPr>
            <a:r>
              <a:rPr lang="en-US" sz="1400" i="1" dirty="0">
                <a:solidFill>
                  <a:srgbClr val="B7ADFF"/>
                </a:solidFill>
                <a:latin typeface="Segoe UI" pitchFamily="34" charset="0"/>
                <a:ea typeface="Segoe UI" pitchFamily="34" charset="-122"/>
                <a:cs typeface="Segoe UI" pitchFamily="34" charset="-120"/>
              </a:rPr>
              <a:t>The model decides what the data means. Code decides whether it's valid, and does the math.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t"/>
          <a:lstStyle/>
          <a:p>
            <a:pPr indent="0" marL="0">
              <a:buNone/>
            </a:pPr>
            <a:r>
              <a:rPr lang="en-US" sz="1100" b="1" spc="300" kern="0" dirty="0">
                <a:solidFill>
                  <a:srgbClr val="B7ADFF"/>
                </a:solidFill>
                <a:latin typeface="Segoe UI" pitchFamily="34" charset="0"/>
                <a:ea typeface="Segoe UI" pitchFamily="34" charset="-122"/>
                <a:cs typeface="Segoe UI" pitchFamily="34" charset="-120"/>
              </a:rPr>
              <a:t>LIVE DEMO RESULT</a:t>
            </a:r>
            <a:endParaRPr lang="en-US" sz="1100" dirty="0"/>
          </a:p>
        </p:txBody>
      </p:sp>
      <p:sp>
        <p:nvSpPr>
          <p:cNvPr id="3" name="Text 1"/>
          <p:cNvSpPr txBox="1"/>
          <p:nvPr/>
        </p:nvSpPr>
        <p:spPr>
          <a:xfrm>
            <a:off x="640080" y="777240"/>
            <a:ext cx="10881360" cy="685800"/>
          </a:xfrm>
          <a:prstGeom prst="rect">
            <a:avLst/>
          </a:prstGeom>
          <a:noFill/>
          <a:ln/>
        </p:spPr>
        <p:txBody>
          <a:bodyPr wrap="square" lIns="0" tIns="0" rIns="0" bIns="0" rtlCol="0" anchor="t"/>
          <a:lstStyle/>
          <a:p>
            <a:pPr indent="0" marL="0">
              <a:buNone/>
            </a:pPr>
            <a:r>
              <a:rPr lang="en-US" sz="3200" b="1" dirty="0">
                <a:solidFill>
                  <a:srgbClr val="EEF0F5"/>
                </a:solidFill>
                <a:latin typeface="Segoe UI" pitchFamily="34" charset="0"/>
                <a:ea typeface="Segoe UI" pitchFamily="34" charset="-122"/>
                <a:cs typeface="Segoe UI" pitchFamily="34" charset="-120"/>
              </a:rPr>
              <a:t>5 providers, 1 outage, 1 plan, for 10 cents</a:t>
            </a:r>
            <a:endParaRPr lang="en-US" sz="3200" dirty="0"/>
          </a:p>
        </p:txBody>
      </p:sp>
      <p:sp>
        <p:nvSpPr>
          <p:cNvPr id="4" name="Text 2"/>
          <p:cNvSpPr txBox="1"/>
          <p:nvPr/>
        </p:nvSpPr>
        <p:spPr>
          <a:xfrm>
            <a:off x="10634472" y="6400800"/>
            <a:ext cx="914400" cy="228600"/>
          </a:xfrm>
          <a:prstGeom prst="rect">
            <a:avLst/>
          </a:prstGeom>
          <a:noFill/>
          <a:ln/>
        </p:spPr>
        <p:txBody>
          <a:bodyPr wrap="square" lIns="0" tIns="0" rIns="0" bIns="0" rtlCol="0" anchor="t"/>
          <a:lstStyle/>
          <a:p>
            <a:pPr algn="r" indent="0" marL="0">
              <a:buNone/>
            </a:pPr>
            <a:r>
              <a:rPr lang="en-US" sz="1000" dirty="0">
                <a:solidFill>
                  <a:srgbClr val="6B7285"/>
                </a:solidFill>
                <a:latin typeface="Segoe UI" pitchFamily="34" charset="0"/>
                <a:ea typeface="Segoe UI" pitchFamily="34" charset="-122"/>
                <a:cs typeface="Segoe UI" pitchFamily="34" charset="-120"/>
              </a:rPr>
              <a:t>5 / 6</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6949440" cy="914400"/>
        </p:xfrm>
        <a:graphic>
          <a:graphicData uri="http://schemas.openxmlformats.org/drawingml/2006/table">
            <a:tbl>
              <a:tblPr/>
              <a:tblGrid>
                <a:gridCol w="1143000"/>
                <a:gridCol w="1325880"/>
                <a:gridCol w="1600200"/>
                <a:gridCol w="2880360"/>
              </a:tblGrid>
              <a:tr h="475488">
                <a:tc>
                  <a:txBody>
                    <a:bodyPr/>
                    <a:lstStyle/>
                    <a:p>
                      <a:pPr algn="l" indent="0" marL="0">
                        <a:buNone/>
                      </a:pPr>
                      <a:r>
                        <a:rPr lang="en-US" sz="1100" b="1" dirty="0">
                          <a:solidFill>
                            <a:srgbClr val="6B7285"/>
                          </a:solidFill>
                          <a:latin typeface="Segoe UI" pitchFamily="34" charset="0"/>
                          <a:ea typeface="Segoe UI" pitchFamily="34" charset="-122"/>
                          <a:cs typeface="Segoe UI" pitchFamily="34" charset="-120"/>
                        </a:rPr>
                        <a:t>PROVIDER</a:t>
                      </a:r>
                      <a:endParaRPr lang="en-US" sz="11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C2130"/>
                    </a:solidFill>
                  </a:tcPr>
                </a:tc>
                <a:tc>
                  <a:txBody>
                    <a:bodyPr/>
                    <a:lstStyle/>
                    <a:p>
                      <a:pPr algn="r" indent="0" marL="0">
                        <a:buNone/>
                      </a:pPr>
                      <a:r>
                        <a:rPr lang="en-US" sz="1100" b="1" dirty="0">
                          <a:solidFill>
                            <a:srgbClr val="6B7285"/>
                          </a:solidFill>
                          <a:latin typeface="Segoe UI" pitchFamily="34" charset="0"/>
                          <a:ea typeface="Segoe UI" pitchFamily="34" charset="-122"/>
                          <a:cs typeface="Segoe UI" pitchFamily="34" charset="-120"/>
                        </a:rPr>
                        <a:t>$ / GPU-HR</a:t>
                      </a:r>
                      <a:endParaRPr lang="en-US" sz="11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C2130"/>
                    </a:solidFill>
                  </a:tcPr>
                </a:tc>
                <a:tc>
                  <a:txBody>
                    <a:bodyPr/>
                    <a:lstStyle/>
                    <a:p>
                      <a:pPr algn="r" indent="0" marL="0">
                        <a:buNone/>
                      </a:pPr>
                      <a:r>
                        <a:rPr lang="en-US" sz="1100" b="1" dirty="0">
                          <a:solidFill>
                            <a:srgbClr val="6B7285"/>
                          </a:solidFill>
                          <a:latin typeface="Segoe UI" pitchFamily="34" charset="0"/>
                          <a:ea typeface="Segoe UI" pitchFamily="34" charset="-122"/>
                          <a:cs typeface="Segoe UI" pitchFamily="34" charset="-120"/>
                        </a:rPr>
                        <a:t>8 GPUs × 6 h</a:t>
                      </a:r>
                      <a:endParaRPr lang="en-US" sz="11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C2130"/>
                    </a:solidFill>
                  </a:tcPr>
                </a:tc>
                <a:tc>
                  <a:txBody>
                    <a:bodyPr/>
                    <a:lstStyle/>
                    <a:p>
                      <a:pPr algn="l" indent="0" marL="0">
                        <a:buNone/>
                      </a:pPr>
                      <a:r>
                        <a:rPr lang="en-US" sz="1100" b="1" dirty="0">
                          <a:solidFill>
                            <a:srgbClr val="6B7285"/>
                          </a:solidFill>
                          <a:latin typeface="Segoe UI" pitchFamily="34" charset="0"/>
                          <a:ea typeface="Segoe UI" pitchFamily="34" charset="-122"/>
                          <a:cs typeface="Segoe UI" pitchFamily="34" charset="-120"/>
                        </a:rPr>
                        <a:t>STATUS</a:t>
                      </a:r>
                      <a:endParaRPr lang="en-US" sz="11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C2130"/>
                    </a:solidFill>
                  </a:tcPr>
                </a:tc>
              </a:tr>
              <a:tr h="475488">
                <a:tc>
                  <a:txBody>
                    <a:bodyPr/>
                    <a:lstStyle/>
                    <a:p>
                      <a:pPr indent="0" marL="0">
                        <a:buNone/>
                      </a:pPr>
                      <a:r>
                        <a:rPr lang="en-US" sz="1400" b="1" dirty="0">
                          <a:solidFill>
                            <a:srgbClr val="34D399"/>
                          </a:solidFill>
                          <a:latin typeface="Segoe UI" pitchFamily="34" charset="0"/>
                          <a:ea typeface="Segoe UI" pitchFamily="34" charset="-122"/>
                          <a:cs typeface="Segoe UI" pitchFamily="34" charset="-120"/>
                        </a:rPr>
                        <a:t>A</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34D399"/>
                          </a:solidFill>
                          <a:latin typeface="Segoe UI" pitchFamily="34" charset="0"/>
                          <a:ea typeface="Segoe UI" pitchFamily="34" charset="-122"/>
                          <a:cs typeface="Segoe UI" pitchFamily="34" charset="-120"/>
                        </a:rPr>
                        <a:t>2.49</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b="1" dirty="0">
                          <a:solidFill>
                            <a:srgbClr val="34D399"/>
                          </a:solidFill>
                          <a:latin typeface="Segoe UI" pitchFamily="34" charset="0"/>
                          <a:ea typeface="Segoe UI" pitchFamily="34" charset="-122"/>
                          <a:cs typeface="Segoe UI" pitchFamily="34" charset="-120"/>
                        </a:rPr>
                        <a:t>$119.52</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indent="0" marL="0">
                        <a:buNone/>
                      </a:pPr>
                      <a:r>
                        <a:rPr lang="en-US" sz="1400" b="1" dirty="0">
                          <a:solidFill>
                            <a:srgbClr val="34D399"/>
                          </a:solidFill>
                          <a:latin typeface="Segoe UI" pitchFamily="34" charset="0"/>
                          <a:ea typeface="Segoe UI" pitchFamily="34" charset="-122"/>
                          <a:cs typeface="Segoe UI" pitchFamily="34" charset="-120"/>
                        </a:rPr>
                        <a:t>✓ Pick · on-demand quote</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r>
              <a:tr h="475488">
                <a:tc>
                  <a:txBody>
                    <a:bodyPr/>
                    <a:lstStyle/>
                    <a:p>
                      <a:pPr indent="0" marL="0">
                        <a:buNone/>
                      </a:pPr>
                      <a:r>
                        <a:rPr lang="en-US" sz="1400" b="1" dirty="0">
                          <a:solidFill>
                            <a:srgbClr val="EEF0F5"/>
                          </a:solidFill>
                          <a:latin typeface="Segoe UI" pitchFamily="34" charset="0"/>
                          <a:ea typeface="Segoe UI" pitchFamily="34" charset="-122"/>
                          <a:cs typeface="Segoe UI" pitchFamily="34" charset="-120"/>
                        </a:rPr>
                        <a:t>B</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2.49</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$119.52</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indent="0" marL="0">
                        <a:buNone/>
                      </a:pPr>
                      <a:r>
                        <a:rPr lang="en-US" sz="1400" dirty="0">
                          <a:solidFill>
                            <a:srgbClr val="A3AABB"/>
                          </a:solidFill>
                          <a:latin typeface="Segoe UI" pitchFamily="34" charset="0"/>
                          <a:ea typeface="Segoe UI" pitchFamily="34" charset="-122"/>
                          <a:cs typeface="Segoe UI" pitchFamily="34" charset="-120"/>
                        </a:rPr>
                        <a:t>Tie · more warnings</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r>
              <a:tr h="475488">
                <a:tc>
                  <a:txBody>
                    <a:bodyPr/>
                    <a:lstStyle/>
                    <a:p>
                      <a:pPr indent="0" marL="0">
                        <a:buNone/>
                      </a:pPr>
                      <a:r>
                        <a:rPr lang="en-US" sz="1400" b="1" dirty="0">
                          <a:solidFill>
                            <a:srgbClr val="EEF0F5"/>
                          </a:solidFill>
                          <a:latin typeface="Segoe UI" pitchFamily="34" charset="0"/>
                          <a:ea typeface="Segoe UI" pitchFamily="34" charset="-122"/>
                          <a:cs typeface="Segoe UI" pitchFamily="34" charset="-120"/>
                        </a:rPr>
                        <a:t>D</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2.952</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$141.70</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indent="0" marL="0">
                        <a:buNone/>
                      </a:pPr>
                      <a:r>
                        <a:rPr lang="en-US" sz="1400" dirty="0">
                          <a:solidFill>
                            <a:srgbClr val="A3AABB"/>
                          </a:solidFill>
                          <a:latin typeface="Segoe UI" pitchFamily="34" charset="0"/>
                          <a:ea typeface="Segoe UI" pitchFamily="34" charset="-122"/>
                          <a:cs typeface="Segoe UI" pitchFamily="34" charset="-120"/>
                        </a:rPr>
                        <a:t>On-demand quote</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r>
              <a:tr h="475488">
                <a:tc>
                  <a:txBody>
                    <a:bodyPr/>
                    <a:lstStyle/>
                    <a:p>
                      <a:pPr indent="0" marL="0">
                        <a:buNone/>
                      </a:pPr>
                      <a:r>
                        <a:rPr lang="en-US" sz="1400" b="1" dirty="0">
                          <a:solidFill>
                            <a:srgbClr val="EEF0F5"/>
                          </a:solidFill>
                          <a:latin typeface="Segoe UI" pitchFamily="34" charset="0"/>
                          <a:ea typeface="Segoe UI" pitchFamily="34" charset="-122"/>
                          <a:cs typeface="Segoe UI" pitchFamily="34" charset="-120"/>
                        </a:rPr>
                        <a:t>E</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3.10</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EEF0F5"/>
                          </a:solidFill>
                          <a:latin typeface="Segoe UI" pitchFamily="34" charset="0"/>
                          <a:ea typeface="Segoe UI" pitchFamily="34" charset="-122"/>
                          <a:cs typeface="Segoe UI" pitchFamily="34" charset="-120"/>
                        </a:rPr>
                        <a:t>$148.80</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indent="0" marL="0">
                        <a:buNone/>
                      </a:pPr>
                      <a:r>
                        <a:rPr lang="en-US" sz="1400" dirty="0">
                          <a:solidFill>
                            <a:srgbClr val="A3AABB"/>
                          </a:solidFill>
                          <a:latin typeface="Segoe UI" pitchFamily="34" charset="0"/>
                          <a:ea typeface="Segoe UI" pitchFamily="34" charset="-122"/>
                          <a:cs typeface="Segoe UI" pitchFamily="34" charset="-120"/>
                        </a:rPr>
                        <a:t>Price type not stated</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r>
              <a:tr h="475488">
                <a:tc>
                  <a:txBody>
                    <a:bodyPr/>
                    <a:lstStyle/>
                    <a:p>
                      <a:pPr indent="0" marL="0">
                        <a:buNone/>
                      </a:pPr>
                      <a:r>
                        <a:rPr lang="en-US" sz="1400" b="1" dirty="0">
                          <a:solidFill>
                            <a:srgbClr val="6B7285"/>
                          </a:solidFill>
                          <a:latin typeface="Segoe UI" pitchFamily="34" charset="0"/>
                          <a:ea typeface="Segoe UI" pitchFamily="34" charset="-122"/>
                          <a:cs typeface="Segoe UI" pitchFamily="34" charset="-120"/>
                        </a:rPr>
                        <a:t>C</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dirty="0">
                          <a:solidFill>
                            <a:srgbClr val="6B7285"/>
                          </a:solidFill>
                          <a:latin typeface="Segoe UI" pitchFamily="34" charset="0"/>
                          <a:ea typeface="Segoe UI" pitchFamily="34" charset="-122"/>
                          <a:cs typeface="Segoe UI" pitchFamily="34" charset="-120"/>
                        </a:rPr>
                        <a:t>3.10</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algn="r" indent="0" marL="0">
                        <a:buNone/>
                      </a:pPr>
                      <a:r>
                        <a:rPr lang="en-US" sz="1400" strike="sngStrike" dirty="0">
                          <a:solidFill>
                            <a:srgbClr val="6B7285"/>
                          </a:solidFill>
                          <a:latin typeface="Segoe UI" pitchFamily="34" charset="0"/>
                          <a:ea typeface="Segoe UI" pitchFamily="34" charset="-122"/>
                          <a:cs typeface="Segoe UI" pitchFamily="34" charset="-120"/>
                        </a:rPr>
                        <a:t>$148.80</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c>
                  <a:txBody>
                    <a:bodyPr/>
                    <a:lstStyle/>
                    <a:p>
                      <a:pPr indent="0" marL="0">
                        <a:buNone/>
                      </a:pPr>
                      <a:r>
                        <a:rPr lang="en-US" sz="1400" dirty="0">
                          <a:solidFill>
                            <a:srgbClr val="FB7185"/>
                          </a:solidFill>
                          <a:latin typeface="Segoe UI" pitchFamily="34" charset="0"/>
                          <a:ea typeface="Segoe UI" pitchFamily="34" charset="-122"/>
                          <a:cs typeface="Segoe UI" pitchFamily="34" charset="-120"/>
                        </a:rPr>
                        <a:t>✕ Excluded: ‘starting at’ floor</a:t>
                      </a:r>
                      <a:endParaRPr lang="en-US" sz="1400" dirty="0">
                        <a:latin typeface="Segoe UI" charset="0"/>
                        <a:ea typeface="Segoe UI" charset="0"/>
                        <a:cs typeface="Segoe UI" charset="0"/>
                      </a:endParaRPr>
                    </a:p>
                  </a:txBody>
                  <a:tcPr marL="128016" marR="128016" marT="0" marB="0" anchor="ctr">
                    <a:lnL w="19050" cap="flat" cmpd="sng" algn="ctr">
                      <a:solidFill>
                        <a:srgbClr val="0B0D14"/>
                      </a:solidFill>
                      <a:prstDash val="solid"/>
                      <a:round/>
                      <a:headEnd type="none" w="med" len="med"/>
                      <a:tailEnd type="none" w="med" len="med"/>
                    </a:lnL>
                    <a:lnR w="19050" cap="flat" cmpd="sng" algn="ctr">
                      <a:solidFill>
                        <a:srgbClr val="0B0D14"/>
                      </a:solidFill>
                      <a:prstDash val="solid"/>
                      <a:round/>
                      <a:headEnd type="none" w="med" len="med"/>
                      <a:tailEnd type="none" w="med" len="med"/>
                    </a:lnR>
                    <a:lnT w="19050" cap="flat" cmpd="sng" algn="ctr">
                      <a:solidFill>
                        <a:srgbClr val="0B0D14"/>
                      </a:solidFill>
                      <a:prstDash val="solid"/>
                      <a:round/>
                      <a:headEnd type="none" w="med" len="med"/>
                      <a:tailEnd type="none" w="med" len="med"/>
                    </a:lnT>
                    <a:lnB w="19050" cap="flat" cmpd="sng" algn="ctr">
                      <a:solidFill>
                        <a:srgbClr val="0B0D14"/>
                      </a:solidFill>
                      <a:prstDash val="solid"/>
                      <a:round/>
                      <a:headEnd type="none" w="med" len="med"/>
                      <a:tailEnd type="none" w="med" len="med"/>
                    </a:lnB>
                    <a:solidFill>
                      <a:srgbClr val="151925"/>
                    </a:solidFill>
                  </a:tcPr>
                </a:tc>
              </a:tr>
            </a:tbl>
          </a:graphicData>
        </a:graphic>
      </p:graphicFrame>
      <p:sp>
        <p:nvSpPr>
          <p:cNvPr id="6" name="Shape 3"/>
          <p:cNvSpPr/>
          <p:nvPr/>
        </p:nvSpPr>
        <p:spPr>
          <a:xfrm>
            <a:off x="640080" y="4846320"/>
            <a:ext cx="6949440" cy="960120"/>
          </a:xfrm>
          <a:prstGeom prst="roundRect">
            <a:avLst>
              <a:gd name="adj" fmla="val 11429"/>
            </a:avLst>
          </a:prstGeom>
          <a:solidFill>
            <a:srgbClr val="151925"/>
          </a:solidFill>
          <a:ln w="9525">
            <a:solidFill>
              <a:srgbClr val="2D6B55"/>
            </a:solidFill>
            <a:prstDash val="solid"/>
          </a:ln>
        </p:spPr>
      </p:sp>
      <p:sp>
        <p:nvSpPr>
          <p:cNvPr id="7" name="Shape 4"/>
          <p:cNvSpPr/>
          <p:nvPr/>
        </p:nvSpPr>
        <p:spPr>
          <a:xfrm>
            <a:off x="868680" y="5056632"/>
            <a:ext cx="530352" cy="530352"/>
          </a:xfrm>
          <a:prstGeom prst="roundRect">
            <a:avLst>
              <a:gd name="adj" fmla="val 17241"/>
            </a:avLst>
          </a:prstGeom>
          <a:solidFill>
            <a:srgbClr val="1C2130"/>
          </a:solidFill>
          <a:ln w="9525">
            <a:solidFill>
              <a:srgbClr val="2A3042"/>
            </a:solidFill>
            <a:prstDash val="solid"/>
          </a:ln>
        </p:spPr>
      </p:sp>
      <p:pic>
        <p:nvPicPr>
          <p:cNvPr id="8" name="Image 0" descr="preencoded.png">    </p:cNvPr>
          <p:cNvPicPr>
            <a:picLocks noChangeAspect="1"/>
          </p:cNvPicPr>
          <p:nvPr/>
        </p:nvPicPr>
        <p:blipFill>
          <a:blip r:embed="rId1"/>
          <a:stretch>
            <a:fillRect/>
          </a:stretch>
        </p:blipFill>
        <p:spPr>
          <a:xfrm>
            <a:off x="995964" y="5183916"/>
            <a:ext cx="275783" cy="275783"/>
          </a:xfrm>
          <a:prstGeom prst="rect">
            <a:avLst/>
          </a:prstGeom>
        </p:spPr>
      </p:pic>
      <p:sp>
        <p:nvSpPr>
          <p:cNvPr id="9" name="Text 5"/>
          <p:cNvSpPr txBox="1"/>
          <p:nvPr/>
        </p:nvSpPr>
        <p:spPr>
          <a:xfrm>
            <a:off x="1600200" y="4919472"/>
            <a:ext cx="5806440" cy="822960"/>
          </a:xfrm>
          <a:prstGeom prst="rect">
            <a:avLst/>
          </a:prstGeom>
          <a:noFill/>
          <a:ln/>
        </p:spPr>
        <p:txBody>
          <a:bodyPr wrap="square" lIns="0" tIns="0" rIns="0" bIns="0" rtlCol="0" anchor="ctr"/>
          <a:lstStyle/>
          <a:p>
            <a:pPr indent="0" marL="0">
              <a:lnSpc>
                <a:spcPct val="110000"/>
              </a:lnSpc>
              <a:buNone/>
            </a:pPr>
            <a:r>
              <a:rPr lang="en-US" sz="1300" b="1" dirty="0">
                <a:solidFill>
                  <a:srgbClr val="EEF0F5"/>
                </a:solidFill>
                <a:latin typeface="Segoe UI" pitchFamily="34" charset="0"/>
                <a:ea typeface="Segoe UI" pitchFamily="34" charset="-122"/>
                <a:cs typeface="Segoe UI" pitchFamily="34" charset="-120"/>
              </a:rPr>
              <a:t>Honesty, enforced in code. </a:t>
            </a:r>
            <a:pPr indent="0" marL="0">
              <a:lnSpc>
                <a:spcPct val="110000"/>
              </a:lnSpc>
              <a:buNone/>
            </a:pPr>
            <a:r>
              <a:rPr lang="en-US" sz="1300" dirty="0">
                <a:solidFill>
                  <a:srgbClr val="A3AABB"/>
                </a:solidFill>
                <a:latin typeface="Segoe UI" pitchFamily="34" charset="0"/>
                <a:ea typeface="Segoe UI" pitchFamily="34" charset="-122"/>
                <a:cs typeface="Segoe UI" pitchFamily="34" charset="-120"/>
              </a:rPr>
              <a:t>For provider E the model guessed gpu_count = 1 and price_type = on_demand. Neither is in the source, so both were rejected to null, with the reason in warnings.</a:t>
            </a:r>
            <a:endParaRPr lang="en-US" sz="1300" dirty="0"/>
          </a:p>
        </p:txBody>
      </p:sp>
      <p:sp>
        <p:nvSpPr>
          <p:cNvPr id="10" name="Shape 6"/>
          <p:cNvSpPr/>
          <p:nvPr/>
        </p:nvSpPr>
        <p:spPr>
          <a:xfrm>
            <a:off x="8001000" y="1737360"/>
            <a:ext cx="3547872" cy="1289304"/>
          </a:xfrm>
          <a:prstGeom prst="roundRect">
            <a:avLst>
              <a:gd name="adj" fmla="val 8511"/>
            </a:avLst>
          </a:prstGeom>
          <a:solidFill>
            <a:srgbClr val="151925"/>
          </a:solidFill>
          <a:ln w="9525">
            <a:solidFill>
              <a:srgbClr val="2A3042"/>
            </a:solidFill>
            <a:prstDash val="solid"/>
          </a:ln>
        </p:spPr>
      </p:sp>
      <p:sp>
        <p:nvSpPr>
          <p:cNvPr id="11" name="Text 7"/>
          <p:cNvSpPr txBox="1"/>
          <p:nvPr/>
        </p:nvSpPr>
        <p:spPr>
          <a:xfrm>
            <a:off x="8275320" y="1874520"/>
            <a:ext cx="3108960" cy="594360"/>
          </a:xfrm>
          <a:prstGeom prst="rect">
            <a:avLst/>
          </a:prstGeom>
          <a:noFill/>
          <a:ln/>
        </p:spPr>
        <p:txBody>
          <a:bodyPr wrap="square" lIns="0" tIns="0" rIns="0" bIns="0" rtlCol="0" anchor="t"/>
          <a:lstStyle/>
          <a:p>
            <a:pPr indent="0" marL="0">
              <a:buNone/>
            </a:pPr>
            <a:r>
              <a:rPr lang="en-US" sz="3400" b="1" dirty="0">
                <a:solidFill>
                  <a:srgbClr val="34D399"/>
                </a:solidFill>
                <a:latin typeface="Segoe UI" pitchFamily="34" charset="0"/>
                <a:ea typeface="Segoe UI" pitchFamily="34" charset="-122"/>
                <a:cs typeface="Segoe UI" pitchFamily="34" charset="-120"/>
              </a:rPr>
              <a:t>$119.52</a:t>
            </a:r>
            <a:endParaRPr lang="en-US" sz="3400" dirty="0"/>
          </a:p>
        </p:txBody>
      </p:sp>
      <p:sp>
        <p:nvSpPr>
          <p:cNvPr id="12" name="Text 8"/>
          <p:cNvSpPr txBox="1"/>
          <p:nvPr/>
        </p:nvSpPr>
        <p:spPr>
          <a:xfrm>
            <a:off x="8275320" y="2468880"/>
            <a:ext cx="3108960" cy="5029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best plan: provider A,</a:t>
            </a:r>
            <a:endParaRPr lang="en-US" sz="1200" dirty="0"/>
          </a:p>
          <a:p>
            <a:pPr indent="0" marL="0">
              <a:buNone/>
            </a:pPr>
            <a:r>
              <a:rPr lang="en-US" sz="1200" dirty="0">
                <a:solidFill>
                  <a:srgbClr val="A3AABB"/>
                </a:solidFill>
                <a:latin typeface="Segoe UI" pitchFamily="34" charset="0"/>
                <a:ea typeface="Segoe UI" pitchFamily="34" charset="-122"/>
                <a:cs typeface="Segoe UI" pitchFamily="34" charset="-120"/>
              </a:rPr>
              <a:t>8× H100 for 6 hours</a:t>
            </a:r>
            <a:endParaRPr lang="en-US" sz="1200" dirty="0"/>
          </a:p>
        </p:txBody>
      </p:sp>
      <p:sp>
        <p:nvSpPr>
          <p:cNvPr id="13" name="Shape 9"/>
          <p:cNvSpPr/>
          <p:nvPr/>
        </p:nvSpPr>
        <p:spPr>
          <a:xfrm>
            <a:off x="8001000" y="3127248"/>
            <a:ext cx="3547872" cy="1289304"/>
          </a:xfrm>
          <a:prstGeom prst="roundRect">
            <a:avLst>
              <a:gd name="adj" fmla="val 8511"/>
            </a:avLst>
          </a:prstGeom>
          <a:solidFill>
            <a:srgbClr val="151925"/>
          </a:solidFill>
          <a:ln w="9525">
            <a:solidFill>
              <a:srgbClr val="2A3042"/>
            </a:solidFill>
            <a:prstDash val="solid"/>
          </a:ln>
        </p:spPr>
      </p:sp>
      <p:sp>
        <p:nvSpPr>
          <p:cNvPr id="14" name="Text 10"/>
          <p:cNvSpPr txBox="1"/>
          <p:nvPr/>
        </p:nvSpPr>
        <p:spPr>
          <a:xfrm>
            <a:off x="8275320" y="3264408"/>
            <a:ext cx="3108960" cy="594360"/>
          </a:xfrm>
          <a:prstGeom prst="rect">
            <a:avLst/>
          </a:prstGeom>
          <a:noFill/>
          <a:ln/>
        </p:spPr>
        <p:txBody>
          <a:bodyPr wrap="square" lIns="0" tIns="0" rIns="0" bIns="0" rtlCol="0" anchor="t"/>
          <a:lstStyle/>
          <a:p>
            <a:pPr indent="0" marL="0">
              <a:buNone/>
            </a:pPr>
            <a:r>
              <a:rPr lang="en-US" sz="3400" b="1" dirty="0">
                <a:solidFill>
                  <a:srgbClr val="F5B546"/>
                </a:solidFill>
                <a:latin typeface="Segoe UI" pitchFamily="34" charset="0"/>
                <a:ea typeface="Segoe UI" pitchFamily="34" charset="-122"/>
                <a:cs typeface="Segoe UI" pitchFamily="34" charset="-120"/>
              </a:rPr>
              <a:t>$0.10</a:t>
            </a:r>
            <a:endParaRPr lang="en-US" sz="3400" dirty="0"/>
          </a:p>
        </p:txBody>
      </p:sp>
      <p:sp>
        <p:nvSpPr>
          <p:cNvPr id="15" name="Text 11"/>
          <p:cNvSpPr txBox="1"/>
          <p:nvPr/>
        </p:nvSpPr>
        <p:spPr>
          <a:xfrm>
            <a:off x="8275320" y="3858768"/>
            <a:ext cx="3108960" cy="5029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5 calls × $0.02, paid by the</a:t>
            </a:r>
            <a:endParaRPr lang="en-US" sz="1200" dirty="0"/>
          </a:p>
          <a:p>
            <a:pPr indent="0" marL="0">
              <a:buNone/>
            </a:pPr>
            <a:r>
              <a:rPr lang="en-US" sz="1200" dirty="0">
                <a:solidFill>
                  <a:srgbClr val="A3AABB"/>
                </a:solidFill>
                <a:latin typeface="Segoe UI" pitchFamily="34" charset="0"/>
                <a:ea typeface="Segoe UI" pitchFamily="34" charset="-122"/>
                <a:cs typeface="Segoe UI" pitchFamily="34" charset="-120"/>
              </a:rPr>
              <a:t>agent itself via Pay.sh</a:t>
            </a:r>
            <a:endParaRPr lang="en-US" sz="1200" dirty="0"/>
          </a:p>
        </p:txBody>
      </p:sp>
      <p:sp>
        <p:nvSpPr>
          <p:cNvPr id="16" name="Shape 12"/>
          <p:cNvSpPr/>
          <p:nvPr/>
        </p:nvSpPr>
        <p:spPr>
          <a:xfrm>
            <a:off x="8001000" y="4517136"/>
            <a:ext cx="3547872" cy="1289304"/>
          </a:xfrm>
          <a:prstGeom prst="roundRect">
            <a:avLst>
              <a:gd name="adj" fmla="val 8511"/>
            </a:avLst>
          </a:prstGeom>
          <a:solidFill>
            <a:srgbClr val="151925"/>
          </a:solidFill>
          <a:ln w="9525">
            <a:solidFill>
              <a:srgbClr val="2A3042"/>
            </a:solidFill>
            <a:prstDash val="solid"/>
          </a:ln>
        </p:spPr>
      </p:sp>
      <p:sp>
        <p:nvSpPr>
          <p:cNvPr id="17" name="Text 13"/>
          <p:cNvSpPr txBox="1"/>
          <p:nvPr/>
        </p:nvSpPr>
        <p:spPr>
          <a:xfrm>
            <a:off x="8275320" y="4654296"/>
            <a:ext cx="3108960" cy="594360"/>
          </a:xfrm>
          <a:prstGeom prst="rect">
            <a:avLst/>
          </a:prstGeom>
          <a:noFill/>
          <a:ln/>
        </p:spPr>
        <p:txBody>
          <a:bodyPr wrap="square" lIns="0" tIns="0" rIns="0" bIns="0" rtlCol="0" anchor="t"/>
          <a:lstStyle/>
          <a:p>
            <a:pPr indent="0" marL="0">
              <a:buNone/>
            </a:pPr>
            <a:r>
              <a:rPr lang="en-US" sz="3400" b="1" dirty="0">
                <a:solidFill>
                  <a:srgbClr val="B7ADFF"/>
                </a:solidFill>
                <a:latin typeface="Segoe UI" pitchFamily="34" charset="0"/>
                <a:ea typeface="Segoe UI" pitchFamily="34" charset="-122"/>
                <a:cs typeface="Segoe UI" pitchFamily="34" charset="-120"/>
              </a:rPr>
              <a:t>0 replans</a:t>
            </a:r>
            <a:endParaRPr lang="en-US" sz="3400" dirty="0"/>
          </a:p>
        </p:txBody>
      </p:sp>
      <p:sp>
        <p:nvSpPr>
          <p:cNvPr id="18" name="Text 14"/>
          <p:cNvSpPr txBox="1"/>
          <p:nvPr/>
        </p:nvSpPr>
        <p:spPr>
          <a:xfrm>
            <a:off x="8275320" y="5248656"/>
            <a:ext cx="3108960" cy="502920"/>
          </a:xfrm>
          <a:prstGeom prst="rect">
            <a:avLst/>
          </a:prstGeom>
          <a:noFill/>
          <a:ln/>
        </p:spPr>
        <p:txBody>
          <a:bodyPr wrap="square" lIns="0" tIns="0" rIns="0" bIns="0" rtlCol="0" anchor="t"/>
          <a:lstStyle/>
          <a:p>
            <a:pPr indent="0" marL="0">
              <a:buNone/>
            </a:pPr>
            <a:r>
              <a:rPr lang="en-US" sz="1200" dirty="0">
                <a:solidFill>
                  <a:srgbClr val="A3AABB"/>
                </a:solidFill>
                <a:latin typeface="Segoe UI" pitchFamily="34" charset="0"/>
                <a:ea typeface="Segoe UI" pitchFamily="34" charset="-122"/>
                <a:cs typeface="Segoe UI" pitchFamily="34" charset="-120"/>
              </a:rPr>
              <a:t>C's API was down; its scraped text</a:t>
            </a:r>
            <a:endParaRPr lang="en-US" sz="1200" dirty="0"/>
          </a:p>
          <a:p>
            <a:pPr indent="0" marL="0">
              <a:buNone/>
            </a:pPr>
            <a:r>
              <a:rPr lang="en-US" sz="1200" dirty="0">
                <a:solidFill>
                  <a:srgbClr val="A3AABB"/>
                </a:solidFill>
                <a:latin typeface="Segoe UI" pitchFamily="34" charset="0"/>
                <a:ea typeface="Segoe UI" pitchFamily="34" charset="-122"/>
                <a:cs typeface="Segoe UI" pitchFamily="34" charset="-120"/>
              </a:rPr>
              <a:t>went through the same schema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4"/>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t"/>
          <a:lstStyle/>
          <a:p>
            <a:pPr indent="0" marL="0">
              <a:buNone/>
            </a:pPr>
            <a:r>
              <a:rPr lang="en-US" sz="1100" b="1" spc="300" kern="0" dirty="0">
                <a:solidFill>
                  <a:srgbClr val="B7ADFF"/>
                </a:solidFill>
                <a:latin typeface="Segoe UI" pitchFamily="34" charset="0"/>
                <a:ea typeface="Segoe UI" pitchFamily="34" charset="-122"/>
                <a:cs typeface="Segoe UI" pitchFamily="34" charset="-120"/>
              </a:rPr>
              <a:t>WHY AN AGENT SHOULD CALL IT</a:t>
            </a:r>
            <a:endParaRPr lang="en-US" sz="1100" dirty="0"/>
          </a:p>
        </p:txBody>
      </p:sp>
      <p:sp>
        <p:nvSpPr>
          <p:cNvPr id="3" name="Text 1"/>
          <p:cNvSpPr txBox="1"/>
          <p:nvPr/>
        </p:nvSpPr>
        <p:spPr>
          <a:xfrm>
            <a:off x="640080" y="777240"/>
            <a:ext cx="10881360" cy="685800"/>
          </a:xfrm>
          <a:prstGeom prst="rect">
            <a:avLst/>
          </a:prstGeom>
          <a:noFill/>
          <a:ln/>
        </p:spPr>
        <p:txBody>
          <a:bodyPr wrap="square" lIns="0" tIns="0" rIns="0" bIns="0" rtlCol="0" anchor="t"/>
          <a:lstStyle/>
          <a:p>
            <a:pPr indent="0" marL="0">
              <a:buNone/>
            </a:pPr>
            <a:r>
              <a:rPr lang="en-US" sz="3200" b="1" dirty="0">
                <a:solidFill>
                  <a:srgbClr val="EEF0F5"/>
                </a:solidFill>
                <a:latin typeface="Segoe UI" pitchFamily="34" charset="0"/>
                <a:ea typeface="Segoe UI" pitchFamily="34" charset="-122"/>
                <a:cs typeface="Segoe UI" pitchFamily="34" charset="-120"/>
              </a:rPr>
              <a:t>Spend intelligence on the goal, not on reformatting</a:t>
            </a:r>
            <a:endParaRPr lang="en-US" sz="3200" dirty="0"/>
          </a:p>
        </p:txBody>
      </p:sp>
      <p:sp>
        <p:nvSpPr>
          <p:cNvPr id="4" name="Text 2"/>
          <p:cNvSpPr txBox="1"/>
          <p:nvPr/>
        </p:nvSpPr>
        <p:spPr>
          <a:xfrm>
            <a:off x="10634472" y="6400800"/>
            <a:ext cx="914400" cy="228600"/>
          </a:xfrm>
          <a:prstGeom prst="rect">
            <a:avLst/>
          </a:prstGeom>
          <a:noFill/>
          <a:ln/>
        </p:spPr>
        <p:txBody>
          <a:bodyPr wrap="square" lIns="0" tIns="0" rIns="0" bIns="0" rtlCol="0" anchor="t"/>
          <a:lstStyle/>
          <a:p>
            <a:pPr algn="r" indent="0" marL="0">
              <a:buNone/>
            </a:pPr>
            <a:r>
              <a:rPr lang="en-US" sz="1000" dirty="0">
                <a:solidFill>
                  <a:srgbClr val="6B7285"/>
                </a:solidFill>
                <a:latin typeface="Segoe UI" pitchFamily="34" charset="0"/>
                <a:ea typeface="Segoe UI" pitchFamily="34" charset="-122"/>
                <a:cs typeface="Segoe UI" pitchFamily="34" charset="-120"/>
              </a:rPr>
              <a:t>6 / 6</a:t>
            </a:r>
            <a:endParaRPr lang="en-US" sz="1000" dirty="0"/>
          </a:p>
        </p:txBody>
      </p:sp>
      <p:sp>
        <p:nvSpPr>
          <p:cNvPr id="5" name="Shape 3"/>
          <p:cNvSpPr/>
          <p:nvPr/>
        </p:nvSpPr>
        <p:spPr>
          <a:xfrm>
            <a:off x="640080" y="1737360"/>
            <a:ext cx="3502152" cy="1298448"/>
          </a:xfrm>
          <a:prstGeom prst="roundRect">
            <a:avLst>
              <a:gd name="adj" fmla="val 8451"/>
            </a:avLst>
          </a:prstGeom>
          <a:solidFill>
            <a:srgbClr val="151925"/>
          </a:solidFill>
          <a:ln w="9525">
            <a:solidFill>
              <a:srgbClr val="2A3042"/>
            </a:solidFill>
            <a:prstDash val="solid"/>
          </a:ln>
        </p:spPr>
      </p:sp>
      <p:sp>
        <p:nvSpPr>
          <p:cNvPr id="6" name="Shape 4"/>
          <p:cNvSpPr/>
          <p:nvPr/>
        </p:nvSpPr>
        <p:spPr>
          <a:xfrm>
            <a:off x="868680" y="1984248"/>
            <a:ext cx="548640" cy="548640"/>
          </a:xfrm>
          <a:prstGeom prst="roundRect">
            <a:avLst>
              <a:gd name="adj" fmla="val 16667"/>
            </a:avLst>
          </a:prstGeom>
          <a:solidFill>
            <a:srgbClr val="1C2130"/>
          </a:solidFill>
          <a:ln w="9525">
            <a:solidFill>
              <a:srgbClr val="2A3042"/>
            </a:solidFill>
            <a:prstDash val="solid"/>
          </a:ln>
        </p:spPr>
      </p:sp>
      <p:pic>
        <p:nvPicPr>
          <p:cNvPr id="7" name="Image 0" descr="preencoded.png">    </p:cNvPr>
          <p:cNvPicPr>
            <a:picLocks noChangeAspect="1"/>
          </p:cNvPicPr>
          <p:nvPr/>
        </p:nvPicPr>
        <p:blipFill>
          <a:blip r:embed="rId1"/>
          <a:stretch>
            <a:fillRect/>
          </a:stretch>
        </p:blipFill>
        <p:spPr>
          <a:xfrm>
            <a:off x="1000354" y="2115922"/>
            <a:ext cx="285293" cy="285293"/>
          </a:xfrm>
          <a:prstGeom prst="rect">
            <a:avLst/>
          </a:prstGeom>
        </p:spPr>
      </p:pic>
      <p:sp>
        <p:nvSpPr>
          <p:cNvPr id="8" name="Text 5"/>
          <p:cNvSpPr txBox="1"/>
          <p:nvPr/>
        </p:nvSpPr>
        <p:spPr>
          <a:xfrm>
            <a:off x="1618488" y="1956816"/>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Saves context</a:t>
            </a:r>
            <a:endParaRPr lang="en-US" sz="1600" dirty="0"/>
          </a:p>
        </p:txBody>
      </p:sp>
      <p:sp>
        <p:nvSpPr>
          <p:cNvPr id="9" name="Text 6"/>
          <p:cNvSpPr txBox="1"/>
          <p:nvPr/>
        </p:nvSpPr>
        <p:spPr>
          <a:xfrm>
            <a:off x="1618488" y="2304288"/>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The expensive planner only sees small, clean rows.</a:t>
            </a:r>
            <a:endParaRPr lang="en-US" sz="1250" dirty="0"/>
          </a:p>
        </p:txBody>
      </p:sp>
      <p:sp>
        <p:nvSpPr>
          <p:cNvPr id="10" name="Shape 7"/>
          <p:cNvSpPr/>
          <p:nvPr/>
        </p:nvSpPr>
        <p:spPr>
          <a:xfrm>
            <a:off x="4343400" y="1737360"/>
            <a:ext cx="3502152" cy="1298448"/>
          </a:xfrm>
          <a:prstGeom prst="roundRect">
            <a:avLst>
              <a:gd name="adj" fmla="val 8451"/>
            </a:avLst>
          </a:prstGeom>
          <a:solidFill>
            <a:srgbClr val="151925"/>
          </a:solidFill>
          <a:ln w="9525">
            <a:solidFill>
              <a:srgbClr val="2A3042"/>
            </a:solidFill>
            <a:prstDash val="solid"/>
          </a:ln>
        </p:spPr>
      </p:sp>
      <p:sp>
        <p:nvSpPr>
          <p:cNvPr id="11" name="Shape 8"/>
          <p:cNvSpPr/>
          <p:nvPr/>
        </p:nvSpPr>
        <p:spPr>
          <a:xfrm>
            <a:off x="4572000" y="1984248"/>
            <a:ext cx="548640" cy="548640"/>
          </a:xfrm>
          <a:prstGeom prst="roundRect">
            <a:avLst>
              <a:gd name="adj" fmla="val 16667"/>
            </a:avLst>
          </a:prstGeom>
          <a:solidFill>
            <a:srgbClr val="1C2130"/>
          </a:solidFill>
          <a:ln w="9525">
            <a:solidFill>
              <a:srgbClr val="2A3042"/>
            </a:solidFill>
            <a:prstDash val="solid"/>
          </a:ln>
        </p:spPr>
      </p:sp>
      <p:pic>
        <p:nvPicPr>
          <p:cNvPr id="12" name="Image 1" descr="preencoded.png">    </p:cNvPr>
          <p:cNvPicPr>
            <a:picLocks noChangeAspect="1"/>
          </p:cNvPicPr>
          <p:nvPr/>
        </p:nvPicPr>
        <p:blipFill>
          <a:blip r:embed="rId2"/>
          <a:stretch>
            <a:fillRect/>
          </a:stretch>
        </p:blipFill>
        <p:spPr>
          <a:xfrm>
            <a:off x="4703674" y="2115922"/>
            <a:ext cx="285293" cy="285293"/>
          </a:xfrm>
          <a:prstGeom prst="rect">
            <a:avLst/>
          </a:prstGeom>
        </p:spPr>
      </p:pic>
      <p:sp>
        <p:nvSpPr>
          <p:cNvPr id="13" name="Text 9"/>
          <p:cNvSpPr txBox="1"/>
          <p:nvPr/>
        </p:nvSpPr>
        <p:spPr>
          <a:xfrm>
            <a:off x="5321808" y="1956816"/>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Exact math</a:t>
            </a:r>
            <a:endParaRPr lang="en-US" sz="1600" dirty="0"/>
          </a:p>
        </p:txBody>
      </p:sp>
      <p:sp>
        <p:nvSpPr>
          <p:cNvPr id="14" name="Text 10"/>
          <p:cNvSpPr txBox="1"/>
          <p:nvPr/>
        </p:nvSpPr>
        <p:spPr>
          <a:xfrm>
            <a:off x="5321808" y="2304288"/>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The model writes the formula; code computes it.</a:t>
            </a:r>
            <a:endParaRPr lang="en-US" sz="1250" dirty="0"/>
          </a:p>
        </p:txBody>
      </p:sp>
      <p:sp>
        <p:nvSpPr>
          <p:cNvPr id="15" name="Shape 11"/>
          <p:cNvSpPr/>
          <p:nvPr/>
        </p:nvSpPr>
        <p:spPr>
          <a:xfrm>
            <a:off x="8046720" y="1737360"/>
            <a:ext cx="3502152" cy="1298448"/>
          </a:xfrm>
          <a:prstGeom prst="roundRect">
            <a:avLst>
              <a:gd name="adj" fmla="val 8451"/>
            </a:avLst>
          </a:prstGeom>
          <a:solidFill>
            <a:srgbClr val="151925"/>
          </a:solidFill>
          <a:ln w="9525">
            <a:solidFill>
              <a:srgbClr val="2A3042"/>
            </a:solidFill>
            <a:prstDash val="solid"/>
          </a:ln>
        </p:spPr>
      </p:sp>
      <p:sp>
        <p:nvSpPr>
          <p:cNvPr id="16" name="Shape 12"/>
          <p:cNvSpPr/>
          <p:nvPr/>
        </p:nvSpPr>
        <p:spPr>
          <a:xfrm>
            <a:off x="8275320" y="1984248"/>
            <a:ext cx="548640" cy="548640"/>
          </a:xfrm>
          <a:prstGeom prst="roundRect">
            <a:avLst>
              <a:gd name="adj" fmla="val 16667"/>
            </a:avLst>
          </a:prstGeom>
          <a:solidFill>
            <a:srgbClr val="1C2130"/>
          </a:solidFill>
          <a:ln w="9525">
            <a:solidFill>
              <a:srgbClr val="2A3042"/>
            </a:solidFill>
            <a:prstDash val="solid"/>
          </a:ln>
        </p:spPr>
      </p:sp>
      <p:pic>
        <p:nvPicPr>
          <p:cNvPr id="17" name="Image 2" descr="preencoded.png">    </p:cNvPr>
          <p:cNvPicPr>
            <a:picLocks noChangeAspect="1"/>
          </p:cNvPicPr>
          <p:nvPr/>
        </p:nvPicPr>
        <p:blipFill>
          <a:blip r:embed="rId3"/>
          <a:stretch>
            <a:fillRect/>
          </a:stretch>
        </p:blipFill>
        <p:spPr>
          <a:xfrm>
            <a:off x="8406994" y="2115922"/>
            <a:ext cx="285293" cy="285293"/>
          </a:xfrm>
          <a:prstGeom prst="rect">
            <a:avLst/>
          </a:prstGeom>
        </p:spPr>
      </p:pic>
      <p:sp>
        <p:nvSpPr>
          <p:cNvPr id="18" name="Text 13"/>
          <p:cNvSpPr txBox="1"/>
          <p:nvPr/>
        </p:nvSpPr>
        <p:spPr>
          <a:xfrm>
            <a:off x="9025128" y="1956816"/>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No invented values</a:t>
            </a:r>
            <a:endParaRPr lang="en-US" sz="1600" dirty="0"/>
          </a:p>
        </p:txBody>
      </p:sp>
      <p:sp>
        <p:nvSpPr>
          <p:cNvPr id="19" name="Text 14"/>
          <p:cNvSpPr txBox="1"/>
          <p:nvPr/>
        </p:nvSpPr>
        <p:spPr>
          <a:xfrm>
            <a:off x="9025128" y="2304288"/>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Grounded in the source, or null with a warning.</a:t>
            </a:r>
            <a:endParaRPr lang="en-US" sz="1250" dirty="0"/>
          </a:p>
        </p:txBody>
      </p:sp>
      <p:sp>
        <p:nvSpPr>
          <p:cNvPr id="20" name="Shape 15"/>
          <p:cNvSpPr/>
          <p:nvPr/>
        </p:nvSpPr>
        <p:spPr>
          <a:xfrm>
            <a:off x="640080" y="3218688"/>
            <a:ext cx="3502152" cy="1298448"/>
          </a:xfrm>
          <a:prstGeom prst="roundRect">
            <a:avLst>
              <a:gd name="adj" fmla="val 8451"/>
            </a:avLst>
          </a:prstGeom>
          <a:solidFill>
            <a:srgbClr val="151925"/>
          </a:solidFill>
          <a:ln w="9525">
            <a:solidFill>
              <a:srgbClr val="2A3042"/>
            </a:solidFill>
            <a:prstDash val="solid"/>
          </a:ln>
        </p:spPr>
      </p:sp>
      <p:sp>
        <p:nvSpPr>
          <p:cNvPr id="21" name="Shape 16"/>
          <p:cNvSpPr/>
          <p:nvPr/>
        </p:nvSpPr>
        <p:spPr>
          <a:xfrm>
            <a:off x="868680" y="3465576"/>
            <a:ext cx="548640" cy="548640"/>
          </a:xfrm>
          <a:prstGeom prst="roundRect">
            <a:avLst>
              <a:gd name="adj" fmla="val 16667"/>
            </a:avLst>
          </a:prstGeom>
          <a:solidFill>
            <a:srgbClr val="1C2130"/>
          </a:solidFill>
          <a:ln w="9525">
            <a:solidFill>
              <a:srgbClr val="2A3042"/>
            </a:solidFill>
            <a:prstDash val="solid"/>
          </a:ln>
        </p:spPr>
      </p:sp>
      <p:pic>
        <p:nvPicPr>
          <p:cNvPr id="22" name="Image 3" descr="preencoded.png">    </p:cNvPr>
          <p:cNvPicPr>
            <a:picLocks noChangeAspect="1"/>
          </p:cNvPicPr>
          <p:nvPr/>
        </p:nvPicPr>
        <p:blipFill>
          <a:blip r:embed="rId4"/>
          <a:stretch>
            <a:fillRect/>
          </a:stretch>
        </p:blipFill>
        <p:spPr>
          <a:xfrm>
            <a:off x="1000354" y="3597250"/>
            <a:ext cx="285293" cy="285293"/>
          </a:xfrm>
          <a:prstGeom prst="rect">
            <a:avLst/>
          </a:prstGeom>
        </p:spPr>
      </p:pic>
      <p:sp>
        <p:nvSpPr>
          <p:cNvPr id="23" name="Text 17"/>
          <p:cNvSpPr txBox="1"/>
          <p:nvPr/>
        </p:nvSpPr>
        <p:spPr>
          <a:xfrm>
            <a:off x="1618488" y="3438144"/>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Contained failures</a:t>
            </a:r>
            <a:endParaRPr lang="en-US" sz="1600" dirty="0"/>
          </a:p>
        </p:txBody>
      </p:sp>
      <p:sp>
        <p:nvSpPr>
          <p:cNvPr id="24" name="Text 18"/>
          <p:cNvSpPr txBox="1"/>
          <p:nvPr/>
        </p:nvSpPr>
        <p:spPr>
          <a:xfrm>
            <a:off x="1618488" y="3785616"/>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Fallback data flows through the same schema.</a:t>
            </a:r>
            <a:endParaRPr lang="en-US" sz="1250" dirty="0"/>
          </a:p>
        </p:txBody>
      </p:sp>
      <p:sp>
        <p:nvSpPr>
          <p:cNvPr id="25" name="Shape 19"/>
          <p:cNvSpPr/>
          <p:nvPr/>
        </p:nvSpPr>
        <p:spPr>
          <a:xfrm>
            <a:off x="4343400" y="3218688"/>
            <a:ext cx="3502152" cy="1298448"/>
          </a:xfrm>
          <a:prstGeom prst="roundRect">
            <a:avLst>
              <a:gd name="adj" fmla="val 8451"/>
            </a:avLst>
          </a:prstGeom>
          <a:solidFill>
            <a:srgbClr val="151925"/>
          </a:solidFill>
          <a:ln w="9525">
            <a:solidFill>
              <a:srgbClr val="2A3042"/>
            </a:solidFill>
            <a:prstDash val="solid"/>
          </a:ln>
        </p:spPr>
      </p:sp>
      <p:sp>
        <p:nvSpPr>
          <p:cNvPr id="26" name="Shape 20"/>
          <p:cNvSpPr/>
          <p:nvPr/>
        </p:nvSpPr>
        <p:spPr>
          <a:xfrm>
            <a:off x="4572000" y="3465576"/>
            <a:ext cx="548640" cy="548640"/>
          </a:xfrm>
          <a:prstGeom prst="roundRect">
            <a:avLst>
              <a:gd name="adj" fmla="val 16667"/>
            </a:avLst>
          </a:prstGeom>
          <a:solidFill>
            <a:srgbClr val="1C2130"/>
          </a:solidFill>
          <a:ln w="9525">
            <a:solidFill>
              <a:srgbClr val="2A3042"/>
            </a:solidFill>
            <a:prstDash val="solid"/>
          </a:ln>
        </p:spPr>
      </p:sp>
      <p:pic>
        <p:nvPicPr>
          <p:cNvPr id="27" name="Image 4" descr="preencoded.png">    </p:cNvPr>
          <p:cNvPicPr>
            <a:picLocks noChangeAspect="1"/>
          </p:cNvPicPr>
          <p:nvPr/>
        </p:nvPicPr>
        <p:blipFill>
          <a:blip r:embed="rId5"/>
          <a:stretch>
            <a:fillRect/>
          </a:stretch>
        </p:blipFill>
        <p:spPr>
          <a:xfrm>
            <a:off x="4703674" y="3597250"/>
            <a:ext cx="285293" cy="285293"/>
          </a:xfrm>
          <a:prstGeom prst="rect">
            <a:avLst/>
          </a:prstGeom>
        </p:spPr>
      </p:pic>
      <p:sp>
        <p:nvSpPr>
          <p:cNvPr id="28" name="Text 21"/>
          <p:cNvSpPr txBox="1"/>
          <p:nvPr/>
        </p:nvSpPr>
        <p:spPr>
          <a:xfrm>
            <a:off x="5321808" y="3438144"/>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Predictable cost</a:t>
            </a:r>
            <a:endParaRPr lang="en-US" sz="1600" dirty="0"/>
          </a:p>
        </p:txBody>
      </p:sp>
      <p:sp>
        <p:nvSpPr>
          <p:cNvPr id="29" name="Text 22"/>
          <p:cNvSpPr txBox="1"/>
          <p:nvPr/>
        </p:nvSpPr>
        <p:spPr>
          <a:xfrm>
            <a:off x="5321808" y="3785616"/>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A flat $0.02 per payload, not premium tokens.</a:t>
            </a:r>
            <a:endParaRPr lang="en-US" sz="1250" dirty="0"/>
          </a:p>
        </p:txBody>
      </p:sp>
      <p:sp>
        <p:nvSpPr>
          <p:cNvPr id="30" name="Shape 23"/>
          <p:cNvSpPr/>
          <p:nvPr/>
        </p:nvSpPr>
        <p:spPr>
          <a:xfrm>
            <a:off x="8046720" y="3218688"/>
            <a:ext cx="3502152" cy="1298448"/>
          </a:xfrm>
          <a:prstGeom prst="roundRect">
            <a:avLst>
              <a:gd name="adj" fmla="val 8451"/>
            </a:avLst>
          </a:prstGeom>
          <a:solidFill>
            <a:srgbClr val="151925"/>
          </a:solidFill>
          <a:ln w="9525">
            <a:solidFill>
              <a:srgbClr val="2A3042"/>
            </a:solidFill>
            <a:prstDash val="solid"/>
          </a:ln>
        </p:spPr>
      </p:sp>
      <p:sp>
        <p:nvSpPr>
          <p:cNvPr id="31" name="Shape 24"/>
          <p:cNvSpPr/>
          <p:nvPr/>
        </p:nvSpPr>
        <p:spPr>
          <a:xfrm>
            <a:off x="8275320" y="3465576"/>
            <a:ext cx="548640" cy="548640"/>
          </a:xfrm>
          <a:prstGeom prst="roundRect">
            <a:avLst>
              <a:gd name="adj" fmla="val 16667"/>
            </a:avLst>
          </a:prstGeom>
          <a:solidFill>
            <a:srgbClr val="1C2130"/>
          </a:solidFill>
          <a:ln w="9525">
            <a:solidFill>
              <a:srgbClr val="2A3042"/>
            </a:solidFill>
            <a:prstDash val="solid"/>
          </a:ln>
        </p:spPr>
      </p:sp>
      <p:pic>
        <p:nvPicPr>
          <p:cNvPr id="32" name="Image 5" descr="preencoded.png">    </p:cNvPr>
          <p:cNvPicPr>
            <a:picLocks noChangeAspect="1"/>
          </p:cNvPicPr>
          <p:nvPr/>
        </p:nvPicPr>
        <p:blipFill>
          <a:blip r:embed="rId6"/>
          <a:stretch>
            <a:fillRect/>
          </a:stretch>
        </p:blipFill>
        <p:spPr>
          <a:xfrm>
            <a:off x="8406994" y="3597250"/>
            <a:ext cx="285293" cy="285293"/>
          </a:xfrm>
          <a:prstGeom prst="rect">
            <a:avLst/>
          </a:prstGeom>
        </p:spPr>
      </p:pic>
      <p:sp>
        <p:nvSpPr>
          <p:cNvPr id="33" name="Text 25"/>
          <p:cNvSpPr txBox="1"/>
          <p:nvPr/>
        </p:nvSpPr>
        <p:spPr>
          <a:xfrm>
            <a:off x="9025128" y="3438144"/>
            <a:ext cx="2377440" cy="329184"/>
          </a:xfrm>
          <a:prstGeom prst="rect">
            <a:avLst/>
          </a:prstGeom>
          <a:noFill/>
          <a:ln/>
        </p:spPr>
        <p:txBody>
          <a:bodyPr wrap="square" lIns="0" tIns="0" rIns="0" bIns="0" rtlCol="0" anchor="t"/>
          <a:lstStyle/>
          <a:p>
            <a:pPr indent="0" marL="0">
              <a:buNone/>
            </a:pPr>
            <a:r>
              <a:rPr lang="en-US" sz="1600" b="1" dirty="0">
                <a:solidFill>
                  <a:srgbClr val="EEF0F5"/>
                </a:solidFill>
                <a:latin typeface="Segoe UI" pitchFamily="34" charset="0"/>
                <a:ea typeface="Segoe UI" pitchFamily="34" charset="-122"/>
                <a:cs typeface="Segoe UI" pitchFamily="34" charset="-120"/>
              </a:rPr>
              <a:t>No setup</a:t>
            </a:r>
            <a:endParaRPr lang="en-US" sz="1600" dirty="0"/>
          </a:p>
        </p:txBody>
      </p:sp>
      <p:sp>
        <p:nvSpPr>
          <p:cNvPr id="34" name="Text 26"/>
          <p:cNvSpPr txBox="1"/>
          <p:nvPr/>
        </p:nvSpPr>
        <p:spPr>
          <a:xfrm>
            <a:off x="9025128" y="3785616"/>
            <a:ext cx="2377440" cy="594360"/>
          </a:xfrm>
          <a:prstGeom prst="rect">
            <a:avLst/>
          </a:prstGeom>
          <a:noFill/>
          <a:ln/>
        </p:spPr>
        <p:txBody>
          <a:bodyPr wrap="square" lIns="0" tIns="0" rIns="0" bIns="0" rtlCol="0" anchor="t"/>
          <a:lstStyle/>
          <a:p>
            <a:pPr indent="0" marL="0">
              <a:lnSpc>
                <a:spcPct val="105000"/>
              </a:lnSpc>
              <a:buNone/>
            </a:pPr>
            <a:r>
              <a:rPr lang="en-US" sz="1250" dirty="0">
                <a:solidFill>
                  <a:srgbClr val="A3AABB"/>
                </a:solidFill>
                <a:latin typeface="Segoe UI" pitchFamily="34" charset="0"/>
                <a:ea typeface="Segoe UI" pitchFamily="34" charset="-122"/>
                <a:cs typeface="Segoe UI" pitchFamily="34" charset="-120"/>
              </a:rPr>
              <a:t>Agents pay per call via Pay.sh: no keys, no accounts.</a:t>
            </a:r>
            <a:endParaRPr lang="en-US" sz="1250" dirty="0"/>
          </a:p>
        </p:txBody>
      </p:sp>
      <p:sp>
        <p:nvSpPr>
          <p:cNvPr id="35" name="Shape 27"/>
          <p:cNvSpPr/>
          <p:nvPr/>
        </p:nvSpPr>
        <p:spPr>
          <a:xfrm>
            <a:off x="640080" y="4846320"/>
            <a:ext cx="10908792" cy="1097280"/>
          </a:xfrm>
          <a:prstGeom prst="roundRect">
            <a:avLst>
              <a:gd name="adj" fmla="val 10000"/>
            </a:avLst>
          </a:prstGeom>
          <a:solidFill>
            <a:srgbClr val="1C2130"/>
          </a:solidFill>
          <a:ln w="9525">
            <a:solidFill>
              <a:srgbClr val="2A3042"/>
            </a:solidFill>
            <a:prstDash val="solid"/>
          </a:ln>
        </p:spPr>
      </p:sp>
      <p:sp>
        <p:nvSpPr>
          <p:cNvPr id="36" name="Text 28"/>
          <p:cNvSpPr txBox="1"/>
          <p:nvPr/>
        </p:nvSpPr>
        <p:spPr>
          <a:xfrm>
            <a:off x="914400" y="5047488"/>
            <a:ext cx="1097280" cy="274320"/>
          </a:xfrm>
          <a:prstGeom prst="rect">
            <a:avLst/>
          </a:prstGeom>
          <a:noFill/>
          <a:ln/>
        </p:spPr>
        <p:txBody>
          <a:bodyPr wrap="square" lIns="0" tIns="0" rIns="0" bIns="0" rtlCol="0" anchor="t"/>
          <a:lstStyle/>
          <a:p>
            <a:pPr indent="0" marL="0">
              <a:buNone/>
            </a:pPr>
            <a:r>
              <a:rPr lang="en-US" sz="1100" b="1" spc="200" kern="0" dirty="0">
                <a:solidFill>
                  <a:srgbClr val="34D399"/>
                </a:solidFill>
                <a:latin typeface="Segoe UI" pitchFamily="34" charset="0"/>
                <a:ea typeface="Segoe UI" pitchFamily="34" charset="-122"/>
                <a:cs typeface="Segoe UI" pitchFamily="34" charset="-120"/>
              </a:rPr>
              <a:t>BUILT</a:t>
            </a:r>
            <a:endParaRPr lang="en-US" sz="1100" dirty="0"/>
          </a:p>
        </p:txBody>
      </p:sp>
      <p:sp>
        <p:nvSpPr>
          <p:cNvPr id="37" name="Text 29"/>
          <p:cNvSpPr txBox="1"/>
          <p:nvPr/>
        </p:nvSpPr>
        <p:spPr>
          <a:xfrm>
            <a:off x="2011680" y="5029200"/>
            <a:ext cx="9326880" cy="320040"/>
          </a:xfrm>
          <a:prstGeom prst="rect">
            <a:avLst/>
          </a:prstGeom>
          <a:noFill/>
          <a:ln/>
        </p:spPr>
        <p:txBody>
          <a:bodyPr wrap="square" lIns="0" tIns="0" rIns="0" bIns="0" rtlCol="0" anchor="t"/>
          <a:lstStyle/>
          <a:p>
            <a:pPr indent="0" marL="0">
              <a:buNone/>
            </a:pPr>
            <a:r>
              <a:rPr lang="en-US" sz="1300" dirty="0">
                <a:solidFill>
                  <a:srgbClr val="EEF0F5"/>
                </a:solidFill>
                <a:latin typeface="Segoe UI" pitchFamily="34" charset="0"/>
                <a:ea typeface="Segoe UI" pitchFamily="34" charset="-122"/>
                <a:cs typeface="Segoe UI" pitchFamily="34" charset="-120"/>
              </a:rPr>
              <a:t>/v1/adapt · 109 tests + live Fireworks and gateway tests · Pay.sh sandbox 402 → 200 · live console · MCP tool adapt_data</a:t>
            </a:r>
            <a:endParaRPr lang="en-US" sz="1300" dirty="0"/>
          </a:p>
        </p:txBody>
      </p:sp>
      <p:sp>
        <p:nvSpPr>
          <p:cNvPr id="38" name="Text 30"/>
          <p:cNvSpPr txBox="1"/>
          <p:nvPr/>
        </p:nvSpPr>
        <p:spPr>
          <a:xfrm>
            <a:off x="914400" y="5458968"/>
            <a:ext cx="1097280" cy="274320"/>
          </a:xfrm>
          <a:prstGeom prst="rect">
            <a:avLst/>
          </a:prstGeom>
          <a:noFill/>
          <a:ln/>
        </p:spPr>
        <p:txBody>
          <a:bodyPr wrap="square" lIns="0" tIns="0" rIns="0" bIns="0" rtlCol="0" anchor="t"/>
          <a:lstStyle/>
          <a:p>
            <a:pPr indent="0" marL="0">
              <a:buNone/>
            </a:pPr>
            <a:r>
              <a:rPr lang="en-US" sz="1100" b="1" spc="200" kern="0" dirty="0">
                <a:solidFill>
                  <a:srgbClr val="F5B546"/>
                </a:solidFill>
                <a:latin typeface="Segoe UI" pitchFamily="34" charset="0"/>
                <a:ea typeface="Segoe UI" pitchFamily="34" charset="-122"/>
                <a:cs typeface="Segoe UI" pitchFamily="34" charset="-120"/>
              </a:rPr>
              <a:t>NEXT</a:t>
            </a:r>
            <a:endParaRPr lang="en-US" sz="1100" dirty="0"/>
          </a:p>
        </p:txBody>
      </p:sp>
      <p:sp>
        <p:nvSpPr>
          <p:cNvPr id="39" name="Text 31"/>
          <p:cNvSpPr txBox="1"/>
          <p:nvPr/>
        </p:nvSpPr>
        <p:spPr>
          <a:xfrm>
            <a:off x="2011680" y="5440680"/>
            <a:ext cx="9326880" cy="320040"/>
          </a:xfrm>
          <a:prstGeom prst="rect">
            <a:avLst/>
          </a:prstGeom>
          <a:noFill/>
          <a:ln/>
        </p:spPr>
        <p:txBody>
          <a:bodyPr wrap="square" lIns="0" tIns="0" rIns="0" bIns="0" rtlCol="0" anchor="t"/>
          <a:lstStyle/>
          <a:p>
            <a:pPr indent="0" marL="0">
              <a:buNone/>
            </a:pPr>
            <a:r>
              <a:rPr lang="en-US" sz="1300" dirty="0">
                <a:solidFill>
                  <a:srgbClr val="EEF0F5"/>
                </a:solidFill>
                <a:latin typeface="Segoe UI" pitchFamily="34" charset="0"/>
                <a:ea typeface="Segoe UI" pitchFamily="34" charset="-122"/>
                <a:cs typeface="Segoe UI" pitchFamily="34" charset="-120"/>
              </a:rPr>
              <a:t>Public HTTPS + mainnet listing in the Pay.sh catalog · batch large tables in one call · cache repeated source formats</a:t>
            </a:r>
            <a:endParaRPr lang="en-US" sz="1300" dirty="0"/>
          </a:p>
        </p:txBody>
      </p:sp>
      <p:sp>
        <p:nvSpPr>
          <p:cNvPr id="40" name="Text 32"/>
          <p:cNvSpPr txBox="1"/>
          <p:nvPr/>
        </p:nvSpPr>
        <p:spPr>
          <a:xfrm>
            <a:off x="640080" y="6382512"/>
            <a:ext cx="5486400" cy="256032"/>
          </a:xfrm>
          <a:prstGeom prst="rect">
            <a:avLst/>
          </a:prstGeom>
          <a:noFill/>
          <a:ln/>
        </p:spPr>
        <p:txBody>
          <a:bodyPr wrap="square" lIns="0" tIns="0" rIns="0" bIns="0" rtlCol="0" anchor="t"/>
          <a:lstStyle/>
          <a:p>
            <a:pPr indent="0" marL="0">
              <a:buNone/>
            </a:pPr>
            <a:r>
              <a:rPr lang="en-US" sz="1100" dirty="0">
                <a:solidFill>
                  <a:srgbClr val="6B7285"/>
                </a:solidFill>
                <a:latin typeface="Consolas" pitchFamily="34" charset="0"/>
                <a:ea typeface="Consolas" pitchFamily="34" charset="-122"/>
                <a:cs typeface="Consolas" pitchFamily="34" charset="-120"/>
              </a:rPr>
              <a:t>github.com/sudhersankv/data-plumber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Plumber</dc:title>
  <dc:subject>PptxGenJS Presentation</dc:subject>
  <dc:creator>Data Plumber</dc:creator>
  <cp:lastModifiedBy>Data Plumber</cp:lastModifiedBy>
  <cp:revision>1</cp:revision>
  <dcterms:created xsi:type="dcterms:W3CDTF">2026-09-30T22:21:54Z</dcterms:created>
  <dcterms:modified xsi:type="dcterms:W3CDTF">2026-09-30T22:21:54Z</dcterms:modified>
</cp:coreProperties>
</file>